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9A68D"/>
                </a:solidFill>
                <a:latin typeface="Aptos Display"/>
              </a:rPr>
              <a:t>RUANGPIJAR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D9E4"/>
                </a:solidFill>
                <a:latin typeface="Aptos"/>
              </a:rPr>
              <a:t>MINDCRAFT WEB COMPETITION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9D9E4"/>
                </a:solidFill>
                <a:latin typeface="Aptos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8B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909560" y="822960"/>
            <a:ext cx="3749039" cy="3749039"/>
          </a:xfrm>
          <a:prstGeom prst="ellipse">
            <a:avLst/>
          </a:prstGeom>
          <a:solidFill>
            <a:srgbClr val="432B3D"/>
          </a:solidFill>
          <a:ln>
            <a:solidFill>
              <a:srgbClr val="43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45920"/>
            <a:ext cx="2103120" cy="2103120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0" y="2194560"/>
            <a:ext cx="1005840" cy="1005840"/>
          </a:xfrm>
          <a:prstGeom prst="ellipse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9A68D"/>
                </a:solidFill>
                <a:latin typeface="Aptos"/>
              </a:rPr>
              <a:t>RUANG KECIL UNTUK
MEMAHAMI DIRIMU.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6492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 Display"/>
              </a:rPr>
              <a:t>RuangPijar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15184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Kamu tidak harus selalu
baik-baik saja.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95020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1E6ED"/>
                </a:solidFill>
                <a:latin typeface="Aptos"/>
              </a:rPr>
              <a:t>Aplikasi web untuk mencatat keseharian, mengenali pola, dan mencoba langkah kecil.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46320"/>
            <a:ext cx="2468880" cy="310896"/>
          </a:xfrm>
          <a:prstGeom prst="roundRect">
            <a:avLst/>
          </a:prstGeom>
          <a:solidFill>
            <a:srgbClr val="8B607D"/>
          </a:solidFill>
          <a:ln>
            <a:solidFill>
              <a:srgbClr val="8B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8289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MINDCRAFT WEB COMPETITION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400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1E6ED"/>
                </a:solidFill>
                <a:latin typeface="Aptos"/>
              </a:rPr>
              <a:t>Building Digital Solutions, for Mental Well-being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0807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9A68D"/>
                </a:solidFill>
                <a:latin typeface="Aptos"/>
              </a:rPr>
              <a:t>[NAMA TIM &amp; ANGGOTA]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PENDAHULUAN &amp; URGENSI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BEBAN YANG SERING TAK DISADARI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Hari yang terlihat biasa,
belum tentu terasa biasa.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Tuntutan akademik, sosial, dan pribadi dapat datang sekaligus.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3429000" cy="2029968"/>
          </a:xfrm>
          <a:prstGeom prst="roundRect">
            <a:avLst/>
          </a:prstGeom>
          <a:solidFill>
            <a:srgbClr val="F8E7D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4472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A68D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1304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Akademik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33672"/>
            <a:ext cx="299008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Deadline, tugas, ujian, dan tuntutan untuk terus berkembang.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246120"/>
            <a:ext cx="3429000" cy="2029968"/>
          </a:xfrm>
          <a:prstGeom prst="roundRect">
            <a:avLst/>
          </a:prstGeom>
          <a:solidFill>
            <a:srgbClr val="E7EFE5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4472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FA58D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81304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Keseharian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33672"/>
            <a:ext cx="299008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Tidur, energi, rutinitas, dan waktu untuk beristirahat.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3246120"/>
            <a:ext cx="3429000" cy="2029968"/>
          </a:xfrm>
          <a:prstGeom prst="roundRect">
            <a:avLst/>
          </a:prstGeom>
          <a:solidFill>
            <a:srgbClr val="EEE5E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4472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1304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Sosial &amp; personal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33672"/>
            <a:ext cx="299008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Hubungan, keluarga, pekerjaan, dan hal-hal yang sering disimpan sendiri.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42432"/>
            <a:ext cx="10424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3A52"/>
                </a:solidFill>
                <a:latin typeface="Aptos"/>
              </a:rPr>
              <a:t>Yang dibutuhkan bukan sekadar layanan tambahan, melainkan media pendukung yang mudah diakses, informatif, dan sesuai kebutuhan pengguna.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PENDAHULUAN &amp; URGENSI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PELUANG SOLUSI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Teknologi bisa menjembatani
akses yang masih terbatas.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4924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9443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310128"/>
            <a:ext cx="49103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Lattie dkk. (2019)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30752"/>
            <a:ext cx="4910327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Tinjauan sistematis atas 89 penelitian: 80% intervensi kesehatan mental digital untuk mahasiswa disampaikan lewat website; banyak yang efektif atau sebagian efektif bagi depresi, kecemasan, dan psychological well-being.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743200"/>
            <a:ext cx="534924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9443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310128"/>
            <a:ext cx="49103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Naslund dkk. (2017)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730752"/>
            <a:ext cx="4910327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Teknologi digital dapat menjembatani akses saat layanan kesehatan mental konvensional terbatas.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13832"/>
            <a:ext cx="10908792" cy="566928"/>
          </a:xfrm>
          <a:prstGeom prst="roundRect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687568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70" b="1" i="0">
                <a:solidFill>
                  <a:srgbClr val="292525"/>
                </a:solidFill>
                <a:latin typeface="Aptos"/>
              </a:rPr>
              <a:t>Efektivitas tidak cukup diukur dari fitur: usability, penerimaan pengguna, pengalaman, keamanan, dan privasi sama pentingnya.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RUANGPIJAR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Catat sebentar. Pahami pola.
Coba langkah kecil.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Alat bantu refleksi pribadi untuk mengenali kondisi sehari-hari.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6420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746E6A"/>
                </a:solidFill>
                <a:latin typeface="Aptos"/>
              </a:rPr>
              <a:t>CHECK-IN HARI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Bagaimana perasaanmu?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7" y="2670048"/>
            <a:ext cx="502920" cy="502920"/>
          </a:xfrm>
          <a:prstGeom prst="ellipse">
            <a:avLst/>
          </a:prstGeom>
          <a:solidFill>
            <a:srgbClr val="F8E7DF"/>
          </a:solidFill>
          <a:ln>
            <a:solidFill>
              <a:srgbClr val="F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7432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:(</a:t>
            </a:r>
          </a:p>
        </p:txBody>
      </p:sp>
      <p:sp>
        <p:nvSpPr>
          <p:cNvPr id="17" name="Oval 16"/>
          <p:cNvSpPr/>
          <p:nvPr/>
        </p:nvSpPr>
        <p:spPr>
          <a:xfrm>
            <a:off x="9052559" y="2670048"/>
            <a:ext cx="502920" cy="502920"/>
          </a:xfrm>
          <a:prstGeom prst="ellipse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27432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:|</a:t>
            </a:r>
          </a:p>
        </p:txBody>
      </p:sp>
      <p:sp>
        <p:nvSpPr>
          <p:cNvPr id="19" name="Oval 18"/>
          <p:cNvSpPr/>
          <p:nvPr/>
        </p:nvSpPr>
        <p:spPr>
          <a:xfrm>
            <a:off x="9765792" y="2670048"/>
            <a:ext cx="502920" cy="502920"/>
          </a:xfrm>
          <a:prstGeom prst="ellipse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7432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:)</a:t>
            </a:r>
          </a:p>
        </p:txBody>
      </p:sp>
      <p:sp>
        <p:nvSpPr>
          <p:cNvPr id="21" name="Oval 20"/>
          <p:cNvSpPr/>
          <p:nvPr/>
        </p:nvSpPr>
        <p:spPr>
          <a:xfrm>
            <a:off x="10479024" y="2670048"/>
            <a:ext cx="502920" cy="502920"/>
          </a:xfrm>
          <a:prstGeom prst="ellipse">
            <a:avLst/>
          </a:prstGeom>
          <a:solidFill>
            <a:srgbClr val="F7DBCF"/>
          </a:solidFill>
          <a:ln>
            <a:solidFill>
              <a:srgbClr val="F7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79024" y="27432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94760"/>
            <a:ext cx="2907792" cy="1170432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41148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Ada ruang untuk
setiap harimu.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326440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15468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Bukan aplikasi diagnosis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1985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RuangPijar tidak menggantikan bantuan psikolog atau konselor.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206240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96512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Dibangun untuk refleksi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61688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Suasana hati, energi, stres, dan hal-hal yang memengaruhinya dicatat dari keseharian pengguna.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5148072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38344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Tidak harus selalu baik-baik saja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03520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Ruang untuk berhenti sejenak dan melihat diri dengan lebih jujur.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SATU SIKLUS, EMPAT 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Bukan empat fitur terpisah.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Setiap langkah memberi konteks bagi langkah berikutnya.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154680"/>
            <a:ext cx="1417320" cy="1417320"/>
          </a:xfrm>
          <a:prstGeom prst="ellipse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7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9204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46E6A"/>
                </a:solidFill>
                <a:latin typeface="Aptos"/>
              </a:rPr>
              <a:t>Catat kondisi hari ini</a:t>
            </a:r>
          </a:p>
        </p:txBody>
      </p:sp>
      <p:sp>
        <p:nvSpPr>
          <p:cNvPr id="16" name="Oval 15"/>
          <p:cNvSpPr/>
          <p:nvPr/>
        </p:nvSpPr>
        <p:spPr>
          <a:xfrm>
            <a:off x="3547872" y="3154680"/>
            <a:ext cx="1417320" cy="1417320"/>
          </a:xfrm>
          <a:prstGeom prst="ellipse">
            <a:avLst/>
          </a:prstGeom>
          <a:solidFill>
            <a:srgbClr val="8FA58D"/>
          </a:solidFill>
          <a:ln>
            <a:solidFill>
              <a:srgbClr val="8F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38328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675887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Jejak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89204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46E6A"/>
                </a:solidFill>
                <a:latin typeface="Aptos"/>
              </a:rPr>
              <a:t>Lihat kembali perjalanan</a:t>
            </a:r>
          </a:p>
        </p:txBody>
      </p:sp>
      <p:sp>
        <p:nvSpPr>
          <p:cNvPr id="20" name="Oval 19"/>
          <p:cNvSpPr/>
          <p:nvPr/>
        </p:nvSpPr>
        <p:spPr>
          <a:xfrm>
            <a:off x="6364224" y="3154680"/>
            <a:ext cx="1417320" cy="1417320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38328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675887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489204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46E6A"/>
                </a:solidFill>
                <a:latin typeface="Aptos"/>
              </a:rPr>
              <a:t>Pahami pola yang muncul</a:t>
            </a:r>
          </a:p>
        </p:txBody>
      </p:sp>
      <p:sp>
        <p:nvSpPr>
          <p:cNvPr id="24" name="Oval 23"/>
          <p:cNvSpPr/>
          <p:nvPr/>
        </p:nvSpPr>
        <p:spPr>
          <a:xfrm>
            <a:off x="9180576" y="3154680"/>
            <a:ext cx="1417320" cy="1417320"/>
          </a:xfrm>
          <a:prstGeom prst="ellipse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338328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675887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Ruang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5" y="489204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46E6A"/>
                </a:solidFill>
                <a:latin typeface="Aptos"/>
              </a:rPr>
              <a:t>Coba langkah kecil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21992" y="3858768"/>
            <a:ext cx="1051560" cy="0"/>
          </a:xfrm>
          <a:prstGeom prst="line">
            <a:avLst/>
          </a:prstGeom>
          <a:ln w="2286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38344" y="3858768"/>
            <a:ext cx="1051560" cy="0"/>
          </a:xfrm>
          <a:prstGeom prst="line">
            <a:avLst/>
          </a:prstGeom>
          <a:ln w="2286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54696" y="3858768"/>
            <a:ext cx="1051560" cy="0"/>
          </a:xfrm>
          <a:prstGeom prst="line">
            <a:avLst/>
          </a:prstGeom>
          <a:ln w="2286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5833872"/>
            <a:ext cx="10012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B3A52"/>
                </a:solidFill>
                <a:latin typeface="Aptos"/>
              </a:rPr>
              <a:t>Rutin check-in → data makin kaya → pola dan saran makin relevan → kembali check-in.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MULAI DENGAN KENALAN SINGKAT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Akun yang menyambut, bukan membebani.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36499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999232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01 — Masuk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38144"/>
            <a:ext cx="292608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Daftar lewat form manual atau satu klik Google. Email yang sama dikenali sebagai satu akun.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2743200"/>
            <a:ext cx="336499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999232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02 — Kenalan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438144"/>
            <a:ext cx="292608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Pilih fokus: mood, stres, energi, tidur, akademik, sosial, relasi, atau diri sendiri.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743200"/>
            <a:ext cx="336499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99232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03 — Atur ritme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38144"/>
            <a:ext cx="292608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Tentukan frekuensi check-in dan jam pengingat yang paling nyaman. Semua bisa diubah di Profil.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7150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"/>
              </a:rPr>
              <a:t>PREFERENSI AWAL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2304" y="5641848"/>
            <a:ext cx="685800" cy="310896"/>
          </a:xfrm>
          <a:prstGeom prst="roundRect">
            <a:avLst/>
          </a:prstGeom>
          <a:solidFill>
            <a:srgbClr val="F8E7DF"/>
          </a:solidFill>
          <a:ln>
            <a:solidFill>
              <a:srgbClr val="F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32304" y="567842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Mood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5264" y="5641848"/>
            <a:ext cx="758952" cy="310896"/>
          </a:xfrm>
          <a:prstGeom prst="roundRect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5264" y="5678424"/>
            <a:ext cx="758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Energi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51376" y="5641848"/>
            <a:ext cx="685800" cy="310896"/>
          </a:xfrm>
          <a:prstGeom prst="roundRect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1376" y="567842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Tidur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74336" y="5641848"/>
            <a:ext cx="731520" cy="310896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56784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20:00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CHECK-IN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Dua menit untuk berhenti sejenak.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Lima pertanyaan santai; tidak ada jawaban salah dan sebagian besar boleh dilewati.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463040"/>
            <a:ext cx="4434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79222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CHECK-IN HARI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12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92525"/>
                </a:solidFill>
                <a:latin typeface="Aptos"/>
              </a:rPr>
              <a:t>Bagaimana mood-mu?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724912"/>
            <a:ext cx="502920" cy="502920"/>
          </a:xfrm>
          <a:prstGeom prst="ellipse">
            <a:avLst/>
          </a:prstGeom>
          <a:solidFill>
            <a:srgbClr val="F8E7DF"/>
          </a:solidFill>
          <a:ln>
            <a:solidFill>
              <a:srgbClr val="F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79806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:(</a:t>
            </a:r>
          </a:p>
        </p:txBody>
      </p:sp>
      <p:sp>
        <p:nvSpPr>
          <p:cNvPr id="17" name="Oval 16"/>
          <p:cNvSpPr/>
          <p:nvPr/>
        </p:nvSpPr>
        <p:spPr>
          <a:xfrm>
            <a:off x="8247888" y="2724912"/>
            <a:ext cx="502920" cy="502920"/>
          </a:xfrm>
          <a:prstGeom prst="ellipse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79806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:|</a:t>
            </a:r>
          </a:p>
        </p:txBody>
      </p:sp>
      <p:sp>
        <p:nvSpPr>
          <p:cNvPr id="19" name="Oval 18"/>
          <p:cNvSpPr/>
          <p:nvPr/>
        </p:nvSpPr>
        <p:spPr>
          <a:xfrm>
            <a:off x="9089136" y="2724912"/>
            <a:ext cx="502920" cy="502920"/>
          </a:xfrm>
          <a:prstGeom prst="ellipse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79806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:)</a:t>
            </a:r>
          </a:p>
        </p:txBody>
      </p:sp>
      <p:sp>
        <p:nvSpPr>
          <p:cNvPr id="21" name="Oval 20"/>
          <p:cNvSpPr/>
          <p:nvPr/>
        </p:nvSpPr>
        <p:spPr>
          <a:xfrm>
            <a:off x="9930384" y="2724912"/>
            <a:ext cx="502920" cy="502920"/>
          </a:xfrm>
          <a:prstGeom prst="ellipse">
            <a:avLst/>
          </a:prstGeom>
          <a:solidFill>
            <a:srgbClr val="F7DBCF"/>
          </a:solidFill>
          <a:ln>
            <a:solidFill>
              <a:srgbClr val="F7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279806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935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Energi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977639"/>
            <a:ext cx="3520440" cy="0"/>
          </a:xfrm>
          <a:prstGeom prst="line">
            <a:avLst/>
          </a:prstGeom>
          <a:ln w="50800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06640" y="3977639"/>
            <a:ext cx="2395728" cy="0"/>
          </a:xfrm>
          <a:prstGeom prst="line">
            <a:avLst/>
          </a:prstGeom>
          <a:ln w="50800">
            <a:solidFill>
              <a:srgbClr val="8FA5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10928" y="3813048"/>
            <a:ext cx="320040" cy="320040"/>
          </a:xfrm>
          <a:prstGeom prst="ellipse">
            <a:avLst/>
          </a:prstGeom>
          <a:solidFill>
            <a:srgbClr val="8FA58D"/>
          </a:solidFill>
          <a:ln>
            <a:solidFill>
              <a:srgbClr val="8F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43434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Stres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4727448"/>
            <a:ext cx="3520440" cy="0"/>
          </a:xfrm>
          <a:prstGeom prst="line">
            <a:avLst/>
          </a:prstGeom>
          <a:ln w="50800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6640" y="4727448"/>
            <a:ext cx="1325880" cy="0"/>
          </a:xfrm>
          <a:prstGeom prst="line">
            <a:avLst/>
          </a:prstGeom>
          <a:ln w="50800">
            <a:solidFill>
              <a:srgbClr val="E9A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641080" y="4562856"/>
            <a:ext cx="320040" cy="320040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17296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0632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Data yang dicatat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32841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Mood, energi, stres; tidur dan beban akademik/sosial opsional; faktor dan cerita bebas.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31596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062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Konsistensi yang diapresiasi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7141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Streak harian dan pengingat email hadir sebelum rangkaian check-in terputus.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JEJAK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Melihat kembali perjalanan
yang sudah dilewati.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Kalender dan riwayat aktivitas menjadikan catatan kecil lebih mudah ditengok.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71600"/>
            <a:ext cx="5010912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2" y="174650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24744" y="2130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746E6A"/>
                </a:solidFill>
                <a:latin typeface="Aptos"/>
              </a:rPr>
              <a:t>M</a:t>
            </a:r>
          </a:p>
        </p:txBody>
      </p:sp>
      <p:sp>
        <p:nvSpPr>
          <p:cNvPr id="21" name="Oval 20"/>
          <p:cNvSpPr/>
          <p:nvPr/>
        </p:nvSpPr>
        <p:spPr>
          <a:xfrm>
            <a:off x="6903720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3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3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8110727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8714232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9317736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9921240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6</a:t>
            </a:r>
          </a:p>
        </p:txBody>
      </p:sp>
      <p:sp>
        <p:nvSpPr>
          <p:cNvPr id="33" name="Oval 32"/>
          <p:cNvSpPr/>
          <p:nvPr/>
        </p:nvSpPr>
        <p:spPr>
          <a:xfrm>
            <a:off x="10524744" y="248716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24744" y="2578608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7</a:t>
            </a:r>
          </a:p>
        </p:txBody>
      </p:sp>
      <p:sp>
        <p:nvSpPr>
          <p:cNvPr id="35" name="Oval 34"/>
          <p:cNvSpPr/>
          <p:nvPr/>
        </p:nvSpPr>
        <p:spPr>
          <a:xfrm>
            <a:off x="6903720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8</a:t>
            </a:r>
          </a:p>
        </p:txBody>
      </p:sp>
      <p:sp>
        <p:nvSpPr>
          <p:cNvPr id="37" name="Oval 36"/>
          <p:cNvSpPr/>
          <p:nvPr/>
        </p:nvSpPr>
        <p:spPr>
          <a:xfrm>
            <a:off x="7507223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3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8110727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0727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10</a:t>
            </a:r>
          </a:p>
        </p:txBody>
      </p:sp>
      <p:sp>
        <p:nvSpPr>
          <p:cNvPr id="41" name="Oval 40"/>
          <p:cNvSpPr/>
          <p:nvPr/>
        </p:nvSpPr>
        <p:spPr>
          <a:xfrm>
            <a:off x="8714232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11</a:t>
            </a:r>
          </a:p>
        </p:txBody>
      </p:sp>
      <p:sp>
        <p:nvSpPr>
          <p:cNvPr id="43" name="Oval 42"/>
          <p:cNvSpPr/>
          <p:nvPr/>
        </p:nvSpPr>
        <p:spPr>
          <a:xfrm>
            <a:off x="9317736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17736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12</a:t>
            </a:r>
          </a:p>
        </p:txBody>
      </p:sp>
      <p:sp>
        <p:nvSpPr>
          <p:cNvPr id="45" name="Oval 44"/>
          <p:cNvSpPr/>
          <p:nvPr/>
        </p:nvSpPr>
        <p:spPr>
          <a:xfrm>
            <a:off x="9921240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13</a:t>
            </a:r>
          </a:p>
        </p:txBody>
      </p:sp>
      <p:sp>
        <p:nvSpPr>
          <p:cNvPr id="47" name="Oval 46"/>
          <p:cNvSpPr/>
          <p:nvPr/>
        </p:nvSpPr>
        <p:spPr>
          <a:xfrm>
            <a:off x="10524744" y="3054096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24744" y="31455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14</a:t>
            </a:r>
          </a:p>
        </p:txBody>
      </p:sp>
      <p:sp>
        <p:nvSpPr>
          <p:cNvPr id="49" name="Oval 48"/>
          <p:cNvSpPr/>
          <p:nvPr/>
        </p:nvSpPr>
        <p:spPr>
          <a:xfrm>
            <a:off x="6903720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15</a:t>
            </a:r>
          </a:p>
        </p:txBody>
      </p:sp>
      <p:sp>
        <p:nvSpPr>
          <p:cNvPr id="51" name="Oval 50"/>
          <p:cNvSpPr/>
          <p:nvPr/>
        </p:nvSpPr>
        <p:spPr>
          <a:xfrm>
            <a:off x="7507223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07223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16</a:t>
            </a:r>
          </a:p>
        </p:txBody>
      </p:sp>
      <p:sp>
        <p:nvSpPr>
          <p:cNvPr id="53" name="Oval 52"/>
          <p:cNvSpPr/>
          <p:nvPr/>
        </p:nvSpPr>
        <p:spPr>
          <a:xfrm>
            <a:off x="8110727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0727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17</a:t>
            </a:r>
          </a:p>
        </p:txBody>
      </p:sp>
      <p:sp>
        <p:nvSpPr>
          <p:cNvPr id="55" name="Oval 54"/>
          <p:cNvSpPr/>
          <p:nvPr/>
        </p:nvSpPr>
        <p:spPr>
          <a:xfrm>
            <a:off x="8714232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14232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18</a:t>
            </a:r>
          </a:p>
        </p:txBody>
      </p:sp>
      <p:sp>
        <p:nvSpPr>
          <p:cNvPr id="57" name="Oval 56"/>
          <p:cNvSpPr/>
          <p:nvPr/>
        </p:nvSpPr>
        <p:spPr>
          <a:xfrm>
            <a:off x="9317736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17736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19</a:t>
            </a:r>
          </a:p>
        </p:txBody>
      </p:sp>
      <p:sp>
        <p:nvSpPr>
          <p:cNvPr id="59" name="Oval 58"/>
          <p:cNvSpPr/>
          <p:nvPr/>
        </p:nvSpPr>
        <p:spPr>
          <a:xfrm>
            <a:off x="9921240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20</a:t>
            </a:r>
          </a:p>
        </p:txBody>
      </p:sp>
      <p:sp>
        <p:nvSpPr>
          <p:cNvPr id="61" name="Oval 60"/>
          <p:cNvSpPr/>
          <p:nvPr/>
        </p:nvSpPr>
        <p:spPr>
          <a:xfrm>
            <a:off x="10524744" y="3621024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24744" y="3712463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21</a:t>
            </a:r>
          </a:p>
        </p:txBody>
      </p:sp>
      <p:sp>
        <p:nvSpPr>
          <p:cNvPr id="63" name="Oval 62"/>
          <p:cNvSpPr/>
          <p:nvPr/>
        </p:nvSpPr>
        <p:spPr>
          <a:xfrm>
            <a:off x="6903720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03720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22</a:t>
            </a:r>
          </a:p>
        </p:txBody>
      </p:sp>
      <p:sp>
        <p:nvSpPr>
          <p:cNvPr id="65" name="Oval 64"/>
          <p:cNvSpPr/>
          <p:nvPr/>
        </p:nvSpPr>
        <p:spPr>
          <a:xfrm>
            <a:off x="7507223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07223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23</a:t>
            </a:r>
          </a:p>
        </p:txBody>
      </p:sp>
      <p:sp>
        <p:nvSpPr>
          <p:cNvPr id="67" name="Oval 66"/>
          <p:cNvSpPr/>
          <p:nvPr/>
        </p:nvSpPr>
        <p:spPr>
          <a:xfrm>
            <a:off x="8110727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7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24</a:t>
            </a:r>
          </a:p>
        </p:txBody>
      </p:sp>
      <p:sp>
        <p:nvSpPr>
          <p:cNvPr id="69" name="Oval 68"/>
          <p:cNvSpPr/>
          <p:nvPr/>
        </p:nvSpPr>
        <p:spPr>
          <a:xfrm>
            <a:off x="8714232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14232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25</a:t>
            </a:r>
          </a:p>
        </p:txBody>
      </p:sp>
      <p:sp>
        <p:nvSpPr>
          <p:cNvPr id="71" name="Oval 70"/>
          <p:cNvSpPr/>
          <p:nvPr/>
        </p:nvSpPr>
        <p:spPr>
          <a:xfrm>
            <a:off x="9317736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17736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26</a:t>
            </a:r>
          </a:p>
        </p:txBody>
      </p:sp>
      <p:sp>
        <p:nvSpPr>
          <p:cNvPr id="73" name="Oval 72"/>
          <p:cNvSpPr/>
          <p:nvPr/>
        </p:nvSpPr>
        <p:spPr>
          <a:xfrm>
            <a:off x="9921240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21240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27</a:t>
            </a:r>
          </a:p>
        </p:txBody>
      </p:sp>
      <p:sp>
        <p:nvSpPr>
          <p:cNvPr id="75" name="Oval 74"/>
          <p:cNvSpPr/>
          <p:nvPr/>
        </p:nvSpPr>
        <p:spPr>
          <a:xfrm>
            <a:off x="10524744" y="418795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24744" y="42793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746E6A"/>
                </a:solidFill>
                <a:latin typeface="Aptos"/>
              </a:rPr>
              <a:t>28</a:t>
            </a:r>
          </a:p>
        </p:txBody>
      </p:sp>
      <p:sp>
        <p:nvSpPr>
          <p:cNvPr id="77" name="Oval 76"/>
          <p:cNvSpPr/>
          <p:nvPr/>
        </p:nvSpPr>
        <p:spPr>
          <a:xfrm>
            <a:off x="8037575" y="2414016"/>
            <a:ext cx="502920" cy="502920"/>
          </a:xfrm>
          <a:prstGeom prst="ellipse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37575" y="24871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:)</a:t>
            </a:r>
          </a:p>
        </p:txBody>
      </p:sp>
      <p:sp>
        <p:nvSpPr>
          <p:cNvPr id="79" name="Oval 78"/>
          <p:cNvSpPr/>
          <p:nvPr/>
        </p:nvSpPr>
        <p:spPr>
          <a:xfrm>
            <a:off x="6830568" y="2980944"/>
            <a:ext cx="502920" cy="502920"/>
          </a:xfrm>
          <a:prstGeom prst="ellipse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8" y="305409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:|</a:t>
            </a:r>
          </a:p>
        </p:txBody>
      </p:sp>
      <p:sp>
        <p:nvSpPr>
          <p:cNvPr id="81" name="Oval 80"/>
          <p:cNvSpPr/>
          <p:nvPr/>
        </p:nvSpPr>
        <p:spPr>
          <a:xfrm>
            <a:off x="9244584" y="2980944"/>
            <a:ext cx="502920" cy="502920"/>
          </a:xfrm>
          <a:prstGeom prst="ellipse">
            <a:avLst/>
          </a:prstGeom>
          <a:solidFill>
            <a:srgbClr val="F8E7DF"/>
          </a:solidFill>
          <a:ln>
            <a:solidFill>
              <a:srgbClr val="F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44584" y="305409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:(</a:t>
            </a:r>
          </a:p>
        </p:txBody>
      </p:sp>
      <p:sp>
        <p:nvSpPr>
          <p:cNvPr id="83" name="Oval 82"/>
          <p:cNvSpPr/>
          <p:nvPr/>
        </p:nvSpPr>
        <p:spPr>
          <a:xfrm>
            <a:off x="9848088" y="3547872"/>
            <a:ext cx="502920" cy="502920"/>
          </a:xfrm>
          <a:prstGeom prst="ellipse">
            <a:avLst/>
          </a:prstGeom>
          <a:solidFill>
            <a:srgbClr val="F7DBCF"/>
          </a:solidFill>
          <a:ln>
            <a:solidFill>
              <a:srgbClr val="F7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48088" y="362102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B3A52"/>
                </a:solidFill>
                <a:latin typeface="Aptos"/>
              </a:rPr>
              <a:t>:D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903720" y="5001768"/>
            <a:ext cx="4233672" cy="0"/>
          </a:xfrm>
          <a:prstGeom prst="line">
            <a:avLst/>
          </a:prstGeom>
          <a:ln w="12700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903720" y="519379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46E6A"/>
                </a:solidFill>
                <a:latin typeface="Aptos"/>
              </a:rPr>
              <a:t>RIWAYAT TERBARU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03720" y="553212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92525"/>
                </a:solidFill>
                <a:latin typeface="Aptos"/>
              </a:rPr>
              <a:t>Insight · Tidur berkaitan dengan stres</a:t>
            </a:r>
          </a:p>
        </p:txBody>
      </p:sp>
      <p:sp>
        <p:nvSpPr>
          <p:cNvPr id="88" name="Oval 87"/>
          <p:cNvSpPr/>
          <p:nvPr/>
        </p:nvSpPr>
        <p:spPr>
          <a:xfrm>
            <a:off x="685800" y="308152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" y="297180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Kalender bulanan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323697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Tanggal yang terisi ditandai mood dan dapat dibuka untuk membaca ulang.</a:t>
            </a:r>
          </a:p>
        </p:txBody>
      </p:sp>
      <p:sp>
        <p:nvSpPr>
          <p:cNvPr id="91" name="Oval 90"/>
          <p:cNvSpPr/>
          <p:nvPr/>
        </p:nvSpPr>
        <p:spPr>
          <a:xfrm>
            <a:off x="685800" y="427024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4400" y="416052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92525"/>
                </a:solidFill>
                <a:latin typeface="Aptos"/>
              </a:rPr>
              <a:t>Satu rangkaian perjalanan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442569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746E6A"/>
                </a:solidFill>
                <a:latin typeface="Aptos"/>
              </a:rPr>
              <a:t>Latihan dari Ruang dan pola dari Insight tersusun terbaru dulu dalam satu feed.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Pola dari catatan sendiri,
dibaca dengan jujur.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Dibuat manual setelah data cukup; tingkat keyakinan menunjukkan sinyal, bukan kepastian.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34381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172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38728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Tren mood menurun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959352"/>
            <a:ext cx="299923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Rata-rata mood berubah dalam jendela 14 hari terakhir.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2971800"/>
            <a:ext cx="34381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3172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Aptos Display"/>
              </a:rPr>
              <a:t>KORELASI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538728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Tidur ↔ stres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59352"/>
            <a:ext cx="299923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Keterkaitan dihitung dari data check-in yang memiliki jam tidur.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2971800"/>
            <a:ext cx="34381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3172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FA58D"/>
                </a:solidFill>
                <a:latin typeface="Aptos Display"/>
              </a:rPr>
              <a:t>POLA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538728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Faktor berulang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959352"/>
            <a:ext cx="299923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Faktor yang sering muncul dapat ditandai sebagai pola.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917936" cy="548640"/>
          </a:xfrm>
          <a:prstGeom prst="roundRect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87568"/>
            <a:ext cx="10378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 i="0">
                <a:solidFill>
                  <a:srgbClr val="5B3A52"/>
                </a:solidFill>
                <a:latin typeface="Aptos"/>
              </a:rPr>
              <a:t>Insight = statistik sederhana dari data pengguna sendiri. Bukan AI, bukan diagnosis, dan “belum cukup data” adalah jawaban yang valid.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RUANG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Langkah kecil, tanpa tekanan.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Latihan disarankan dari faktor yang paling sering muncul di catatan terbaru.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017520"/>
            <a:ext cx="1417320" cy="310896"/>
          </a:xfrm>
          <a:prstGeom prst="roundRect">
            <a:avLst/>
          </a:prstGeom>
          <a:solidFill>
            <a:srgbClr val="F8E7DF"/>
          </a:solidFill>
          <a:ln>
            <a:solidFill>
              <a:srgbClr val="F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540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Napas · 3 menit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2944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Bernapas sejenak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46E6A"/>
                </a:solidFill>
                <a:latin typeface="Aptos"/>
              </a:rPr>
              <a:t>Ambil jeda pendek untuk menata napas.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36008"/>
            <a:ext cx="914400" cy="310896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914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74320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99432" y="3017520"/>
            <a:ext cx="1417320" cy="310896"/>
          </a:xfrm>
          <a:prstGeom prst="roundRect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0540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Refleksi · 5 menit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611880"/>
            <a:ext cx="2944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Jurnal refleksi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041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46E6A"/>
                </a:solidFill>
                <a:latin typeface="Aptos"/>
              </a:rPr>
              <a:t>Tulis apa yang sedang memenuhi pikiran.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9432" y="4636008"/>
            <a:ext cx="914400" cy="310896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709160"/>
            <a:ext cx="914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274320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0183" y="3017520"/>
            <a:ext cx="1417320" cy="310896"/>
          </a:xfrm>
          <a:prstGeom prst="roundRect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0540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3A52"/>
                </a:solidFill>
                <a:latin typeface="Aptos"/>
              </a:rPr>
              <a:t>Prioritas · 5 menit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611880"/>
            <a:ext cx="2944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Susun ulang prioritas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041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46E6A"/>
                </a:solidFill>
                <a:latin typeface="Aptos"/>
              </a:rPr>
              <a:t>Pilih satu hal kecil yang bisa dilakukan hari ini.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4636008"/>
            <a:ext cx="914400" cy="310896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4709160"/>
            <a:ext cx="914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332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B3A52"/>
                </a:solidFill>
                <a:latin typeface="Aptos"/>
              </a:rPr>
              <a:t>Mulai  →  Selesai atau Lewati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 i="0">
                <a:solidFill>
                  <a:srgbClr val="746E6A"/>
                </a:solidFill>
                <a:latin typeface="Aptos"/>
              </a:rPr>
              <a:t>Keduanya wajar. Tidak ada penalti saat pengguna belum siap melanjutkan.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9A68D"/>
                </a:solidFill>
                <a:latin typeface="Aptos Display"/>
              </a:rPr>
              <a:t>RUANGPIJAR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D9E4"/>
                </a:solidFill>
                <a:latin typeface="Aptos"/>
              </a:rPr>
              <a:t>SHOWCASE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9D9E4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8B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A68D"/>
                </a:solidFill>
                <a:latin typeface="Aptos"/>
              </a:rPr>
              <a:t>SATU PERJALANAN YANG MENUTUP SENDIRI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Dari mencatat,
menjadi memahami.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EAF0"/>
                </a:solidFill>
                <a:latin typeface="Aptos"/>
              </a:rPr>
              <a:t>Setiap pengalaman pengguna memperkaya siklus berikutnya.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2176272" cy="960120"/>
          </a:xfrm>
          <a:prstGeom prst="roundRect">
            <a:avLst/>
          </a:prstGeom>
          <a:solidFill>
            <a:srgbClr val="432B3D"/>
          </a:solidFill>
          <a:ln>
            <a:solidFill>
              <a:srgbClr val="8B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0416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A68D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77639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9768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E9D9E4"/>
                </a:solidFill>
                <a:latin typeface="Aptos"/>
              </a:rPr>
              <a:t>Catat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3794760"/>
            <a:ext cx="2176272" cy="960120"/>
          </a:xfrm>
          <a:prstGeom prst="roundRect">
            <a:avLst/>
          </a:prstGeom>
          <a:solidFill>
            <a:srgbClr val="432B3D"/>
          </a:solidFill>
          <a:ln>
            <a:solidFill>
              <a:srgbClr val="8B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40416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FA58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977639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Jejak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429768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E9D9E4"/>
                </a:solidFill>
                <a:latin typeface="Aptos"/>
              </a:rPr>
              <a:t>Ingat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3794760"/>
            <a:ext cx="2176272" cy="960120"/>
          </a:xfrm>
          <a:prstGeom prst="roundRect">
            <a:avLst/>
          </a:prstGeom>
          <a:solidFill>
            <a:srgbClr val="432B3D"/>
          </a:solidFill>
          <a:ln>
            <a:solidFill>
              <a:srgbClr val="8B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40416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389B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977639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9768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E9D9E4"/>
                </a:solidFill>
                <a:latin typeface="Aptos"/>
              </a:rPr>
              <a:t>Pahami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3794760"/>
            <a:ext cx="2176272" cy="960120"/>
          </a:xfrm>
          <a:prstGeom prst="roundRect">
            <a:avLst/>
          </a:prstGeom>
          <a:solidFill>
            <a:srgbClr val="432B3D"/>
          </a:solidFill>
          <a:ln>
            <a:solidFill>
              <a:srgbClr val="8B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40416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A68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977639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Ruang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429768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E9D9E4"/>
                </a:solidFill>
                <a:latin typeface="Aptos"/>
              </a:rPr>
              <a:t>Bertindak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99232" y="4279392"/>
            <a:ext cx="566928" cy="0"/>
          </a:xfrm>
          <a:prstGeom prst="line">
            <a:avLst/>
          </a:prstGeom>
          <a:ln w="17780">
            <a:solidFill>
              <a:srgbClr val="E9A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4279392"/>
            <a:ext cx="566928" cy="0"/>
          </a:xfrm>
          <a:prstGeom prst="line">
            <a:avLst/>
          </a:prstGeom>
          <a:ln w="17780">
            <a:solidFill>
              <a:srgbClr val="E9A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22208" y="4279392"/>
            <a:ext cx="566928" cy="0"/>
          </a:xfrm>
          <a:prstGeom prst="line">
            <a:avLst/>
          </a:prstGeom>
          <a:ln w="17780">
            <a:solidFill>
              <a:srgbClr val="E9A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623560"/>
            <a:ext cx="10515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9A68D"/>
                </a:solidFill>
                <a:latin typeface="Aptos"/>
              </a:rPr>
              <a:t>Bukan 4 fitur yang berdiri sendiri—melainkan satu kebiasaan refleksi yang saling menghidupkan.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SHOWCASE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FITUR PENDUKUNG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Agar kebiasaan kecil
lebih mudah dimulai.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429000" cy="2359152"/>
          </a:xfrm>
          <a:prstGeom prst="roundRect">
            <a:avLst/>
          </a:prstGeom>
          <a:solidFill>
            <a:srgbClr val="E7EFE5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0358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FA58D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015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Panduan di tiap halaman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22191"/>
            <a:ext cx="2990088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Pengguna baru mendapat panduan singkat bergambar; dapat diputar ulang dari Profil.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834640"/>
            <a:ext cx="3429000" cy="2359152"/>
          </a:xfrm>
          <a:prstGeom prst="roundRect">
            <a:avLst/>
          </a:prstGeom>
          <a:solidFill>
            <a:srgbClr val="F8E7D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0358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A68D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015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Profil yang dapat diatur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822191"/>
            <a:ext cx="2990088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Ubah nama, foto, preferensi onboarding, dan keluar akun dari satu tempat.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834640"/>
            <a:ext cx="3429000" cy="2359152"/>
          </a:xfrm>
          <a:prstGeom prst="roundRect">
            <a:avLst/>
          </a:prstGeom>
          <a:solidFill>
            <a:srgbClr val="EEE5E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0358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4015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Pengingat otomatis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822191"/>
            <a:ext cx="2990088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Email berjalan harian untuk pengguna yang streak check-in-nya akan putus.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DAPUR PACU &amp; PROSES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ARSITEKTUR TEKNOLOGI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Satu aplikasi web,
lapisannya saling terhubung.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Implementasi saat ini memakai Next.js 16, React 19, MongoDB, dan NextAuth.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43200"/>
            <a:ext cx="10149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743200"/>
            <a:ext cx="1828800" cy="502920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88950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Pengguna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889504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Browser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255264"/>
            <a:ext cx="0" cy="182880"/>
          </a:xfrm>
          <a:prstGeom prst="line">
            <a:avLst/>
          </a:prstGeom>
          <a:ln w="1524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" y="3456432"/>
            <a:ext cx="10149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3456432"/>
            <a:ext cx="1828800" cy="502920"/>
          </a:xfrm>
          <a:prstGeom prst="roundRect">
            <a:avLst/>
          </a:prstGeom>
          <a:solidFill>
            <a:srgbClr val="8FA58D"/>
          </a:solidFill>
          <a:ln>
            <a:solidFill>
              <a:srgbClr val="8F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60273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Aplikasi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602736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Next.js App Router + React + TypeScript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968496"/>
            <a:ext cx="0" cy="182880"/>
          </a:xfrm>
          <a:prstGeom prst="line">
            <a:avLst/>
          </a:prstGeom>
          <a:ln w="1524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" y="4169664"/>
            <a:ext cx="10149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169664"/>
            <a:ext cx="1828800" cy="502920"/>
          </a:xfrm>
          <a:prstGeom prst="roundRect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3159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431596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Route handlers · sesi JWT · validasi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4681728"/>
            <a:ext cx="0" cy="182880"/>
          </a:xfrm>
          <a:prstGeom prst="line">
            <a:avLst/>
          </a:prstGeom>
          <a:ln w="1524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5840" y="4882896"/>
            <a:ext cx="10149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4882896"/>
            <a:ext cx="1828800" cy="502920"/>
          </a:xfrm>
          <a:prstGeom prst="roundRect">
            <a:avLst/>
          </a:prstGeom>
          <a:solidFill>
            <a:srgbClr val="C389B0"/>
          </a:solidFill>
          <a:ln>
            <a:solidFill>
              <a:srgbClr val="C38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02920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Data &amp; layanan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502920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MongoDB/Mongoose · Gmail SMTP · Cloudinary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97880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 i="0">
                <a:solidFill>
                  <a:srgbClr val="746E6A"/>
                </a:solidFill>
                <a:latin typeface="Aptos"/>
              </a:rPr>
              <a:t>Autentikasi: NextAuth v5 (JWT) · UI: Tailwind v4 · Animasi: GSAP · Onboarding: react-joyride · Pengingat: Vercel Cron + Nodemailer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DAPUR PACU &amp; PROSES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CARA KERJA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Statistik sederhana,
aturan yang transparan.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Tidak ada model AI/LLM: proses berjalan dari check-in pengguna dalam 14 hari terakhir.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34290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090672"/>
            <a:ext cx="411480" cy="411480"/>
          </a:xfrm>
          <a:prstGeom prst="ellipse">
            <a:avLst/>
          </a:prstGeom>
          <a:solidFill>
            <a:srgbClr val="8FA58D"/>
          </a:solidFill>
          <a:ln>
            <a:solidFill>
              <a:srgbClr val="8F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299923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2525"/>
                </a:solidFill>
                <a:latin typeface="Aptos"/>
              </a:rPr>
              <a:t>01 · Ambil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31927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>
                <a:solidFill>
                  <a:srgbClr val="746E6A"/>
                </a:solidFill>
                <a:latin typeface="Aptos"/>
              </a:rPr>
              <a:t>Minimal 3 check-in dalam jendela 14 hari.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788920"/>
            <a:ext cx="34290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9432" y="3090672"/>
            <a:ext cx="411480" cy="411480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299923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2525"/>
                </a:solidFill>
                <a:latin typeface="Aptos"/>
              </a:rPr>
              <a:t>02 · Hitung sinyal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31927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>
                <a:solidFill>
                  <a:srgbClr val="746E6A"/>
                </a:solidFill>
                <a:latin typeface="Aptos"/>
              </a:rPr>
              <a:t>Tren, korelasi Pearson, dan faktor yang berulang.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788920"/>
            <a:ext cx="34290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30183" y="3090672"/>
            <a:ext cx="411480" cy="411480"/>
          </a:xfrm>
          <a:prstGeom prst="ellipse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99923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2525"/>
                </a:solidFill>
                <a:latin typeface="Aptos"/>
              </a:rPr>
              <a:t>03 · Tampilkan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331927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>
                <a:solidFill>
                  <a:srgbClr val="746E6A"/>
                </a:solidFill>
                <a:latin typeface="Aptos"/>
              </a:rPr>
              <a:t>Simpan insight dan tingkat keyakinannya.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3374136"/>
            <a:ext cx="301752" cy="0"/>
          </a:xfrm>
          <a:prstGeom prst="line">
            <a:avLst/>
          </a:prstGeom>
          <a:ln w="1778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99831" y="3374136"/>
            <a:ext cx="301752" cy="0"/>
          </a:xfrm>
          <a:prstGeom prst="line">
            <a:avLst/>
          </a:prstGeom>
          <a:ln w="17780">
            <a:solidFill>
              <a:srgbClr val="5B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4434840"/>
            <a:ext cx="10917936" cy="1078992"/>
          </a:xfrm>
          <a:prstGeom prst="roundRect">
            <a:avLst/>
          </a:prstGeom>
          <a:solidFill>
            <a:srgbClr val="EEE5EC"/>
          </a:solidFill>
          <a:ln>
            <a:solidFill>
              <a:srgbClr val="E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817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3A52"/>
                </a:solidFill>
                <a:latin typeface="Aptos"/>
              </a:rPr>
              <a:t>Aturan yang digunakan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10912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2525"/>
                </a:solidFill>
                <a:latin typeface="Aptos"/>
              </a:rPr>
              <a:t>Tren: perubahan rata-rata ≥ 0,75  ·  Korelasi tidur–stres: |r| ≥ 0,40  ·  Faktor: muncul pada ≥ 40% 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46E6A"/>
                </a:solidFill>
                <a:latin typeface="Aptos"/>
              </a:rPr>
              <a:t>Keyakinan dibatasi 0–100%; jika data belum cukup, sistem mengembalikan “Belum cukup data untuk membuat insight baru.”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VISI, EKSEKUSI &amp; PENUTUP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ARAH PENGEMBANGAN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Membuat dukungan terasa
makin relevan dan mandiri.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46E6A"/>
                </a:solidFill>
                <a:latin typeface="Aptos"/>
              </a:rPr>
              <a:t>Roadmap berikut dibaca sebagai peluang pertumbuhan, bukan kekurangan produk.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3429000" cy="2148840"/>
          </a:xfrm>
          <a:prstGeom prst="roundRect">
            <a:avLst/>
          </a:prstGeom>
          <a:solidFill>
            <a:srgbClr val="F8E7D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264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301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Personalisasi lebih dalam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050791"/>
            <a:ext cx="2990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Preferensi onboarding terhubung ke saran Ruang dan pola Insight.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063240"/>
            <a:ext cx="3429000" cy="2148840"/>
          </a:xfrm>
          <a:prstGeom prst="roundRect">
            <a:avLst/>
          </a:prstGeom>
          <a:solidFill>
            <a:srgbClr val="E7EFE5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264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6301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Kemandirian akun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50791"/>
            <a:ext cx="2990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Reset password, verifikasi email, dan opsi hapus akun mandiri.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3063240"/>
            <a:ext cx="3429000" cy="2148840"/>
          </a:xfrm>
          <a:prstGeom prst="roundRect">
            <a:avLst/>
          </a:prstGeom>
          <a:solidFill>
            <a:srgbClr val="EEE5E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264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3A52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301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"/>
              </a:rPr>
              <a:t>Insight proaktif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50791"/>
            <a:ext cx="2990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746E6A"/>
                </a:solidFill>
                <a:latin typeface="Aptos"/>
              </a:rPr>
              <a:t>Dorongan berkala, tidak hanya menunggu tombol “Cari pola baru”.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9A68D"/>
                </a:solidFill>
                <a:latin typeface="Aptos Display"/>
              </a:rPr>
              <a:t>RUANGPIJAR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D9E4"/>
                </a:solidFill>
                <a:latin typeface="Aptos"/>
              </a:rPr>
              <a:t>VISI, EKSEKUSI &amp;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9D9E4"/>
                </a:solidFill>
                <a:latin typeface="Aptos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8B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A68D"/>
                </a:solidFill>
                <a:latin typeface="Aptos"/>
              </a:rPr>
              <a:t>NILAI &amp; BATASAN YANG DIJAGA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Transparan, privat,
dan tidak menghakimi.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86000"/>
            <a:ext cx="6949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EAF0"/>
                </a:solidFill>
                <a:latin typeface="Aptos"/>
              </a:rPr>
              <a:t>Batasan ini adalah bagian dari desain, bukan catatan kaki.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17296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30632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Bukan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28416"/>
            <a:ext cx="4434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F1E6ED"/>
                </a:solidFill>
                <a:latin typeface="Aptos"/>
              </a:rPr>
              <a:t>RuangPijar bukan pengganti bantuan profesional seperti psikolog atau konselor.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06240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4096512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Privasi milik pengguna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361688"/>
            <a:ext cx="4434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F1E6ED"/>
                </a:solidFill>
                <a:latin typeface="Aptos"/>
              </a:rPr>
              <a:t>Setiap pengguna hanya dapat melihat catatan miliknya sendiri.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172968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Statistik, bukan black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28416"/>
            <a:ext cx="4434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F1E6ED"/>
                </a:solidFill>
                <a:latin typeface="Aptos"/>
              </a:rPr>
              <a:t>Insight dihitung transparan dari data check-in pengguna sendiri—bukan AI.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E9A68D"/>
          </a:solidFill>
          <a:ln>
            <a:solidFill>
              <a:srgbClr val="E9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096512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Tanpa AI atau Web3/blockchain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61688"/>
            <a:ext cx="4434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F1E6ED"/>
                </a:solidFill>
                <a:latin typeface="Aptos"/>
              </a:rPr>
              <a:t>Tidak ada klaim teknologi yang tidak digunakan oleh produk.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-685800"/>
            <a:ext cx="2057400" cy="2057400"/>
          </a:xfrm>
          <a:prstGeom prst="ellipse">
            <a:avLst/>
          </a:prstGeom>
          <a:solidFill>
            <a:srgbClr val="F8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989320"/>
            <a:ext cx="1554480" cy="1554480"/>
          </a:xfrm>
          <a:prstGeom prst="ellipse">
            <a:avLst/>
          </a:prstGeom>
          <a:solidFill>
            <a:srgbClr val="E7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 Display"/>
              </a:rPr>
              <a:t>RUANGPIJAR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46E6A"/>
                </a:solidFill>
                <a:latin typeface="Aptos"/>
              </a:rPr>
              <a:t>VISI, EKSEKUSI &amp; PENUTUP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46E6A"/>
                </a:solidFill>
                <a:latin typeface="Aptos"/>
              </a:rPr>
              <a:t>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E8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3A52"/>
                </a:solidFill>
                <a:latin typeface="Aptos"/>
              </a:rPr>
              <a:t>MARI COBA ALURNYA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92525"/>
                </a:solidFill>
                <a:latin typeface="Aptos Display"/>
              </a:rPr>
              <a:t>Dua menit untuk memulai
refleksi yang lebih sadar.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71800"/>
            <a:ext cx="5669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3A52"/>
                </a:solidFill>
                <a:latin typeface="Aptos"/>
              </a:rPr>
              <a:t>ALUR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730752"/>
            <a:ext cx="48646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92525"/>
                </a:solidFill>
                <a:latin typeface="Aptos Display"/>
              </a:rPr>
              <a:t>Daftar  →  Kenalan singkat  →  Check-in  →
Jejak  →  Cari pola baru  →  Ruang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6634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46E6A"/>
                </a:solidFill>
                <a:latin typeface="Aptos"/>
              </a:rPr>
              <a:t>[URL DEMO]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286000"/>
            <a:ext cx="2880360" cy="2880360"/>
          </a:xfrm>
          <a:prstGeom prst="round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0632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 Display"/>
              </a:rPr>
              <a:t>QR
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5138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 i="0">
                <a:solidFill>
                  <a:srgbClr val="746E6A"/>
                </a:solidFill>
                <a:latin typeface="Aptos"/>
              </a:rPr>
              <a:t>Ganti kotak ini dengan QR code demo saat tersedia.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A52"/>
          </a:solidFill>
          <a:ln>
            <a:solidFill>
              <a:srgbClr val="5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9A68D"/>
                </a:solidFill>
                <a:latin typeface="Aptos Display"/>
              </a:rPr>
              <a:t>RUANGPIJAR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74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9D9E4"/>
                </a:solidFill>
                <a:latin typeface="Aptos"/>
              </a:rPr>
              <a:t>VISI, EKSEKUSI &amp;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256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9D9E4"/>
                </a:solidFill>
                <a:latin typeface="Aptos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67512"/>
            <a:ext cx="11183112" cy="0"/>
          </a:xfrm>
          <a:prstGeom prst="line">
            <a:avLst/>
          </a:prstGeom>
          <a:ln w="8255">
            <a:solidFill>
              <a:srgbClr val="8B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046720" y="914400"/>
            <a:ext cx="3154680" cy="3154680"/>
          </a:xfrm>
          <a:prstGeom prst="ellipse">
            <a:avLst/>
          </a:prstGeom>
          <a:solidFill>
            <a:srgbClr val="432B3D"/>
          </a:solidFill>
          <a:ln>
            <a:solidFill>
              <a:srgbClr val="43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96528" y="1664208"/>
            <a:ext cx="1664208" cy="1664208"/>
          </a:xfrm>
          <a:prstGeom prst="ellipse">
            <a:avLst/>
          </a:prstGeom>
          <a:solidFill>
            <a:srgbClr val="E7EFE5"/>
          </a:solidFill>
          <a:ln>
            <a:solidFill>
              <a:srgbClr val="E7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A68D"/>
                </a:solidFill>
                <a:latin typeface="Aptos"/>
              </a:rPr>
              <a:t>RUANGPIJAR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 Display"/>
              </a:rPr>
              <a:t>Kamu tidak harus
selalu baik-baik saja.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08960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1E6ED"/>
                </a:solidFill>
                <a:latin typeface="Aptos"/>
              </a:rPr>
              <a:t>Kontribusi kecil mahasiswa Informatika untuk membantu keseharian terasa lebih dipahami.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4160520"/>
            <a:ext cx="4681728" cy="0"/>
          </a:xfrm>
          <a:prstGeom prst="line">
            <a:avLst/>
          </a:prstGeom>
          <a:ln w="12700">
            <a:solidFill>
              <a:srgbClr val="8B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45902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9A68D"/>
                </a:solidFill>
                <a:latin typeface="Aptos Display"/>
              </a:rPr>
              <a:t>Terima kasih.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9D9E4"/>
                </a:solidFill>
                <a:latin typeface="Aptos"/>
              </a:rPr>
              <a:t>MindCraft Web Competition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