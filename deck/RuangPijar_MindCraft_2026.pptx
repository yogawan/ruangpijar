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MindCraft Web Competition 2026 · "Building Digital Solutions, for Mental Well-being"</a:t>
            </a:r>
          </a:p>
          <a:p/>
          <a:p>
            <a:r>
              <a:t>• Nama karya: RuangPijar — jurnal harian berbasis web untuk mengenali kondisi diri</a:t>
            </a:r>
          </a:p>
          <a:p>
            <a:r>
              <a:t>• Tim: CH</a:t>
            </a:r>
          </a:p>
          <a:p>
            <a:r>
              <a:t>• Anggota: Yogawan, Ridho, Gading, Latief</a:t>
            </a:r>
          </a:p>
          <a:p>
            <a:r>
              <a:t>• Alur produk dalam satu baris: Reflect → Record → Understand → 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Beban akademik, tidur yang berantakan, dan hal-hal yang disimpan sendiri jarang terbaca sebagai satu pola — sampai terlambat.</a:t>
            </a:r>
          </a:p>
          <a:p/>
          <a:p>
            <a:r>
              <a:t>• Kehidupan perkuliahan menghadirkan tuntutan akademik, sosial, dan pribadi yang berpotensi memengaruhi kondisi psikologis, sementara akses ke layanan konvensional masih punya hambatan (Guidebook MindCraft Web Competition 2026)</a:t>
            </a:r>
          </a:p>
          <a:p>
            <a:r>
              <a:t>• Lattie et al. (2019): dari tinjauan 89 penelitian intervensi kesehatan mental digital pada mahasiswa, 80% disampaikan melalui website, dan sebagian besar terbukti efektif atau sebagian efektif — dengan usability dan pengalaman pengguna sebagai faktor penentu</a:t>
            </a:r>
          </a:p>
          <a:p>
            <a:r>
              <a:t>• Naslund et al. (2017): teknologi digital berperan pada pencegahan dan penanganan, terutama ketika akses layanan masih terbatas</a:t>
            </a:r>
          </a:p>
          <a:p>
            <a:r>
              <a:t>• Celah yang tersisa: belum banyak ruang untuk melihat kondisi harian sebagai pola, sebelum kondisi itu menumpuk</a:t>
            </a:r>
          </a:p>
          <a:p>
            <a:r>
              <a:t>• [DATA YANG DIBUTUHKAN] — data prevalensi lokal/kampus, bila ingin mempertajam urgensi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RuangPijar mengubah catatan kecil dari keseharian menjadi gambaran yang lebih mudah dipahami — tanpa diagnosis, tanpa label.</a:t>
            </a:r>
          </a:p>
          <a:p/>
          <a:p>
            <a:r>
              <a:t>• Terasa seperti percakapan, bukan kuesioner klinis — lima langkah pendek, boleh dilewati, tidak ada jawaban yang salah</a:t>
            </a:r>
          </a:p>
          <a:p>
            <a:r>
              <a:t>• Pola dari datamu sendiri — insight dihitung dari check-in pengguna, bukan dari asumsi tentang orang lain</a:t>
            </a:r>
          </a:p>
          <a:p>
            <a:r>
              <a:t>• Berujung pada langkah kecil — setiap pemahaman punya tindak lanjut yang bisa dikerjakan hari itu juga</a:t>
            </a:r>
          </a:p>
          <a:p>
            <a:r>
              <a:t>• Empat halaman utama: Check-In · Jejak · Insight · Ruang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Empat langkah yang berulang setiap hari: Reflect → Record → Understand → Act.</a:t>
            </a:r>
          </a:p>
          <a:p/>
          <a:p>
            <a:r>
              <a:t>• Kondisi harian tidak terbaca → Check-In membuat perasaan jadi sesuatu yang bisa dicatat dalam dua menit</a:t>
            </a:r>
          </a:p>
          <a:p>
            <a:r>
              <a:t>• Satu hari tidak bercerita apa-apa → Jejak mengumpulkan hari-hari itu menjadi satu rentang yang bisa dilihat</a:t>
            </a:r>
          </a:p>
          <a:p>
            <a:r>
              <a:t>• Pola tidak muncul sendiri → Insight membaca keterkaitan antar-catatan dan menampilkan dasarnya</a:t>
            </a:r>
          </a:p>
          <a:p>
            <a:r>
              <a:t>• Tahu saja tidak mengubah apa pun → Ruang menawarkan satu langkah kecil yang relevan hari ini</a:t>
            </a:r>
          </a:p>
          <a:p>
            <a:r>
              <a:t>• Sebelum lingkaran dimulai, pengguna memilih fokus, frekuensi, dan waktu check-in yang paling pas — dan bisa mengubahnya kapan saja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Lima langkah pendek. Yang tidak wajib boleh dilewati, dan tidak ada jawaban yang salah.</a:t>
            </a:r>
          </a:p>
          <a:p/>
          <a:p>
            <a:r>
              <a:t>• Mood dipilih lewat lima wajah ilustratif: Berat · Rendah · Biasa · Baik · Sangat baik</a:t>
            </a:r>
          </a:p>
          <a:p>
            <a:r>
              <a:t>• Energi dan stres pada skala 1–10 yang bisa digeser</a:t>
            </a:r>
          </a:p>
          <a:p>
            <a:r>
              <a:t>• Jam tidur, beban akademik, beban sosial — opsional, dikosongkan berarti tidak dijawab, bukan nol</a:t>
            </a:r>
          </a:p>
          <a:p>
            <a:r>
              <a:t>• Faktor pemicu dari sembilan pilihan (akademik, tidur, sosial, keuangan, relasi, dan lainnya) plus ruang refleksi bebas hingga 2.000 karakter</a:t>
            </a:r>
          </a:p>
          <a:p>
            <a:r>
              <a:t>• Setiap check-in menghidupkan streak harian; sebelum streak hangus, pengingat dikirim lewat email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Semua yang kamu catat kembali ke satu halaman, dalam urutan waktu.</a:t>
            </a:r>
          </a:p>
          <a:p/>
          <a:p>
            <a:r>
              <a:t>• Kalender bulanan: hari yang sudah diisi tampil berwarna — sebulan terbaca dalam satu layar</a:t>
            </a:r>
          </a:p>
          <a:p>
            <a:r>
              <a:t>• Ketuk tanggalnya untuk membaca ulang check-in hari itu secara utuh, lengkap dengan angka dan refleksinya</a:t>
            </a:r>
          </a:p>
          <a:p>
            <a:r>
              <a:t>• Catatan lama tetap bisa dibuka dan disunting — jejak bukan arsip yang terkunci</a:t>
            </a:r>
          </a:p>
          <a:p>
            <a:r>
              <a:t>• Kolom Latihan &amp; Insight: latihan yang dijalani dari Ruang dan pola yang ditemukan, terbaru lebih dulu, dimuat bertahap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 dibaca dari check-in kamu sendiri, dan selalu menunjukkan dasarnya.</a:t>
            </a:r>
          </a:p>
          <a:p/>
          <a:p>
            <a:r>
              <a:t>• Keterkaitan — hubungan antara jam tidur dan tingkat stres</a:t>
            </a:r>
          </a:p>
          <a:p>
            <a:r>
              <a:t>• Tren — arah pergerakan mood, stres, dan energi dalam 14 hari terakhir</a:t>
            </a:r>
          </a:p>
          <a:p>
            <a:r>
              <a:t>• Pola — faktor yang paling sering muncul di check-in dan seberapa besar porsinya</a:t>
            </a:r>
          </a:p>
          <a:p>
            <a:r>
              <a:t>• Setiap kartu mencantumkan metrik, rentang periode, dan tingkat keyakinan — pengguna tahu insight itu berasal dari mana</a:t>
            </a:r>
          </a:p>
          <a:p>
            <a:r>
              <a:t>• Insight tidak muncul diam-diam: pengguna sendiri yang menekan "Cari pola baru"; bila datanya belum cukup, aplikasi mengatakannya apa adanya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Ruang menyusun saran dari faktor yang paling sering muncul di check-in terakhirmu.</a:t>
            </a:r>
          </a:p>
          <a:p/>
          <a:p>
            <a:r>
              <a:t>• Tab "Untuk kamu" membaca lima check-in terakhir, mengambil faktor yang paling sering muncul, lalu mencocokkannya dengan latihan yang relevan</a:t>
            </a:r>
          </a:p>
          <a:p>
            <a:r>
              <a:t>• Enam kategori untuk ditelusuri sendiri: Refleksi · Napas · Pemulihan · Perencanaan · Belajar · Dukungan</a:t>
            </a:r>
          </a:p>
          <a:p>
            <a:r>
              <a:t>• Setiap latihan menampilkan jenis dan perkiraan durasi sebelum dimulai — tidak ada komitmen yang mengagetkan</a:t>
            </a:r>
          </a:p>
          <a:p>
            <a:r>
              <a:t>• Mulai → Selesai atau Lewati. Keduanya tercatat, dan keduanya sama-sama tidak apa-apa</a:t>
            </a:r>
          </a:p>
          <a:p>
            <a:r>
              <a:t>• Alasan saran ditulis terbuka di layar: "Disarankan dari check-in terakhirmu: Akademik, Tidur."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Setiap langkah menyiapkan bahan untuk langkah berikutnya — tidak ada fitur yang berdiri sendiri.</a:t>
            </a:r>
          </a:p>
          <a:p/>
          <a:p>
            <a:r>
              <a:t>• Malam ini — dua menit di Check-In; mood, energi, stres, dan faktor hari itu tersimpan</a:t>
            </a:r>
          </a:p>
          <a:p>
            <a:r>
              <a:t>• Saat itu juga — Jejak bertambah satu hari; kalender bulan ini makin terisi</a:t>
            </a:r>
          </a:p>
          <a:p>
            <a:r>
              <a:t>• Setelah beberapa hari — pengguna menekan "Cari pola baru", dan Insight mulai menemukan keterkaitan</a:t>
            </a:r>
          </a:p>
          <a:p>
            <a:r>
              <a:t>• Hari berikutnya — Ruang menyesuaikan saran dengan faktor yang paling sering muncul</a:t>
            </a:r>
          </a:p>
          <a:p>
            <a:r>
              <a:t>• Kembali ke awal — latihan yang dijalani tercatat lagi di Jejak, dan streak menjaga kebiasaannya tetap hidup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Next.js App Router berperan sekaligus sebagai antarmuka dan BFF; seluruh data pengguna berada di satu basis data.</a:t>
            </a:r>
          </a:p>
          <a:p/>
          <a:p>
            <a:r>
              <a:t>• Frontend — Next.js 16 (App Router), React 19, TypeScript, Tailwind CSS v4; GSAP untuk animasi scroll, react-joyride untuk panduan, Lucide untuk ikon</a:t>
            </a:r>
          </a:p>
          <a:p>
            <a:r>
              <a:t>• BFF (Route Handlers app/api/*) — check-ins, jejak, insights, actions, action-logs, personalization, upload, cron</a:t>
            </a:r>
          </a:p>
          <a:p>
            <a:r>
              <a:t>• Data — MongoDB + Mongoose dengan enam model: User, CheckIn, Insight, Action, ActionLog, Personalization</a:t>
            </a:r>
          </a:p>
          <a:p>
            <a:r>
              <a:t>• Autentikasi — Auth.js v5 berbasis JWT: Google OAuth dan email/password (hash bcrypt, tidak pernah ikut terbaca dari query)</a:t>
            </a:r>
          </a:p>
          <a:p>
            <a:r>
              <a:t>• Layanan pendukung — Cloudinary (foto profil), Nodemailer/Gmail SMTP (email streak), Vercel Cron (sapuan harian pukul 01.00)</a:t>
            </a:r>
          </a:p>
          <a:p>
            <a:r>
              <a:t>• Dokumentasi API — spesifikasi OpenAPI yang dapat dibuka langsung di 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Alur pembentukan insight, dari input pengguna sampai kartu yang tampil di layar.</a:t>
            </a:r>
          </a:p>
          <a:p/>
          <a:p>
            <a:r>
              <a:t>• INPUT — form check-in dikirim ke POST /api/check-ins; sesi diverifikasi, catatan disimpan terikat pada userId, streak diperbarui</a:t>
            </a:r>
          </a:p>
          <a:p>
            <a:r>
              <a:t>• PROCESSING — pengguna menekan "Cari pola baru" → POST /api/insights/generate mengambil check-in 14 hari terakhir (minimal 3 catatan), lalu menjalankan tiga aturan:</a:t>
            </a:r>
          </a:p>
          <a:p>
            <a:r>
              <a:t>• Tren — selisih rata-rata paruh awal vs paruh akhir untuk mood/stres/energi ≥ 0,75</a:t>
            </a:r>
          </a:p>
          <a:p>
            <a:r>
              <a:t>• Keterkaitan — korelasi Pearson antara jam tidur dan stres dengan |r| ≥ 0,4</a:t>
            </a:r>
          </a:p>
          <a:p>
            <a:r>
              <a:t>• Pola — satu faktor muncul pada ≥ 40% check-in dalam rentang tersebut</a:t>
            </a:r>
          </a:p>
          <a:p>
            <a:r>
              <a:t>• OUTPUT — kandidat yang lolos disimpan beserta metrik, periode, dan nilai keyakinan, lalu tampil sebagai kartu di Insight</a:t>
            </a:r>
          </a:p>
          <a:p>
            <a:r>
              <a:t>• Bila tidak ada yang lolos ambang, sistem menjawab jujur: "Belum cukup data untuk membuat insight baru."</a:t>
            </a:r>
          </a:p>
          <a:p>
            <a:r>
              <a:t>• Seluruhnya deterministik dan dapat ditelusuri — hasil yang sama untuk data yang sama, tanpa model black-box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Nilai tambah RuangPijar terletak pada keputusan yang kami jaga konsisten: transparan, terkendali pengguna, dan non-diagnostik.</a:t>
            </a:r>
          </a:p>
          <a:p/>
          <a:p>
            <a:r>
              <a:t>• Inovasi — insight yang bisa dipertanggungjawabkan: setiap kartu menyebut metrik, periode, dan tingkat keyakinannya; aturannya dapat dijelaskan kalimat per kalimat</a:t>
            </a:r>
          </a:p>
          <a:p>
            <a:r>
              <a:t>• Inovasi — kendali di tangan pengguna: pola hanya dicari ketika pengguna memintanya, dan dasar setiap rekomendasi ditulis terbuka di layar</a:t>
            </a:r>
          </a:p>
          <a:p>
            <a:r>
              <a:t>• UI/UX — ruang, bukan dashboard: palet tenang (ivory #FAF8F4, plum #5B3A52, peach, sage), tipografi Sora + Plus Jakarta Sans, dan maskot Pijar yang memandu lewat spotlight tour di tiap halaman — bisa diputar ulang dari Profil</a:t>
            </a:r>
          </a:p>
          <a:p>
            <a:r>
              <a:t>• UI/UX — inklusif secara teknis: warna tidak pernah jadi satu-satunya penanda (wajah + label + warna), indikator fokus keyboard di seluruh aplikasi, penghormatan pada prefers-reduced-motion, dan tampilan tetap terbaca tanpa JavaScript</a:t>
            </a:r>
          </a:p>
          <a:p>
            <a:r>
              <a:t>• Keamanan &amp; privasi: setiap endpoint memeriksa sesi sebelum menjawab, seluruh query terikat pada userId, dan kata sandi disimpan sebagai hash yang tidak ikut terbaca</a:t>
            </a:r>
          </a:p>
          <a:p>
            <a:r>
              <a:t>• Etika: dinyatakan langsung di produk — refleksi, bukan pengganti tenaga profesional</a:t>
            </a:r>
          </a:p>
          <a:p>
            <a:r>
              <a:t>• Potensi dampak: kebiasaan refleksi harian, pengenalan kondisi lebih awal, dan jembatan menuju bantuan yang tepat</a:t>
            </a:r>
          </a:p>
          <a:p>
            <a:r>
              <a:t>• [DATA YANG DIBUTUHKAN] — hasil uji pengguna dan validasi dampak belum tersedia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Cara tercepat memahami RuangPijar adalah dengan mengisi satu check-in.</a:t>
            </a:r>
          </a:p>
          <a:p/>
          <a:p>
            <a:r>
              <a:t>• Coba aplikasinya: [URL DEMO]</a:t>
            </a:r>
          </a:p>
          <a:p>
            <a:r>
              <a:t>• Video demo: [LINK VIDEO YOUTUBE]</a:t>
            </a:r>
          </a:p>
          <a:p>
            <a:r>
              <a:t>• Repository: [LINK REPOSITORY]</a:t>
            </a:r>
          </a:p>
          <a:p>
            <a:r>
              <a:t>• Alur singkat untuk dicoba juri: Daftar → Atur ruang → Check-in → Jejak → "Cari pola baru" → Ruang</a:t>
            </a:r>
          </a:p>
          <a:p>
            <a:r>
              <a:t>• Akun demo dengan riwayat check-in siap pakai: [DATA YANG DIBUTUHKAN]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 kamu tidak perlu menunggu sampai terasa terlalu berat untuk mulai memperhatikan.</a:t>
            </a:r>
          </a:p>
          <a:p/>
          <a:p>
            <a:r>
              <a:t>• Kita memulai presentasi ini dari satu masalah: kondisi diri sering baru terbaca setelah terlambat</a:t>
            </a:r>
          </a:p>
          <a:p>
            <a:r>
              <a:t>• RuangPijar menjawabnya dengan hal paling sederhana yang bisa dilakukan hari ini — dua menit untuk berhenti, mencatat, dan memahami</a:t>
            </a:r>
          </a:p>
          <a:p>
            <a:r>
              <a:t>• Tidak ada diagnosis. Tidak ada label. Hanya data dari pengalamanmu sendiri</a:t>
            </a:r>
          </a:p>
          <a:p>
            <a:r>
              <a:t>• Terima kasih — CH · MindCraft Web Competition 2026</a:t>
            </a:r>
          </a:p>
          <a:p>
            <a:r>
              <a:t>• Kontak: [KONTAK TIM]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rgbClr val="E8E2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Plus Jakarta San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Plus Jakarta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Plus Jakarta Sans" pitchFamily="2" charset="0"/>
                <a:ea typeface="Plus Jakarta Sans" charset="0"/>
                <a:cs typeface="Plus Jakarta San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Plus Jakarta Sans" pitchFamily="2" charset="0"/>
                <a:ea typeface="Plus Jakarta Sans" charset="0"/>
                <a:cs typeface="Plus Jakarta San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Plus Jakarta Sans" charset="0"/>
                <a:ea typeface="Plus Jakarta Sans" charset="0"/>
                <a:cs typeface="Plus Jakarta San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Plus Jakarta Sans" panose="02000503000000020004" pitchFamily="2" charset="0"/>
                <a:ea typeface="Plus Jakarta San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Plus Jakarta Sans" panose="02000503000000020004" pitchFamily="2" charset="0"/>
                <a:ea typeface="Plus Jakarta San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Plus Jakarta Sans" panose="02000503000000020004" pitchFamily="2" charset="0"/>
                <a:ea typeface="Plus Jakarta San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Plus Jakarta San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Plus Jakarta San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us Jakarta Sans" panose="02000503000000020004" pitchFamily="2" charset="0"/>
                <a:ea typeface="Plus Jakarta Sans" charset="0"/>
                <a:cs typeface="Plus Jakarta San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us Jakarta Sans" panose="02000503000000020004" pitchFamily="2" charset="0"/>
                <a:ea typeface="Plus Jakarta Sans" charset="0"/>
                <a:cs typeface="Plus Jakarta San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us Jakarta Sans" panose="02000503000000020004" pitchFamily="2" charset="0"/>
                <a:ea typeface="Plus Jakarta Sans" charset="0"/>
                <a:cs typeface="Plus Jakarta San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us Jakarta Sans" panose="02000503000000020004" pitchFamily="2" charset="0"/>
                <a:ea typeface="Plus Jakarta Sans" charset="0"/>
                <a:cs typeface="Plus Jakarta San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rgbClr val="E8E2DC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Plus Jakarta Sans" charset="0"/>
                <a:ea typeface="Plus Jakarta Sans" charset="0"/>
                <a:cs typeface="Plus Jakarta San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Plus Jakarta Sans" charset="0"/>
                <a:ea typeface="Plus Jakarta Sans" charset="0"/>
                <a:cs typeface="Plus Jakarta San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Plus Jakarta Sans" charset="0"/>
                <a:ea typeface="Plus Jakarta Sans" charset="0"/>
                <a:cs typeface="Plus Jakarta San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Plus Jakarta Sans" charset="0"/>
                <a:ea typeface="Plus Jakarta Sans" charset="0"/>
                <a:cs typeface="Plus Jakarta San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Plus Jakarta San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Plus Jakarta Sans" pitchFamily="2" charset="0"/>
                <a:ea typeface="Plus Jakarta Sans" charset="0"/>
                <a:cs typeface="Plus Jakarta San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Plus Jakarta Sans" pitchFamily="2" charset="0"/>
                <a:ea typeface="Plus Jakarta Sans" charset="0"/>
                <a:cs typeface="Plus Jakarta San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Plus Jakarta Sans" pitchFamily="2" charset="0"/>
                <a:ea typeface="Plus Jakarta Sans" charset="0"/>
                <a:cs typeface="Plus Jakarta San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Plus Jakarta Sans" pitchFamily="2" charset="0"/>
                <a:ea typeface="Plus Jakarta Sans" charset="0"/>
                <a:cs typeface="Plus Jakarta San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Plus Jakarta Sans" charset="0"/>
                <a:cs typeface="Plus Jakarta San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Plus Jakarta Sans" pitchFamily="2" charset="0"/>
                <a:ea typeface="Plus Jakarta Sans" charset="0"/>
                <a:cs typeface="Plus Jakarta San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Plus Jakarta Sans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Plus Jakarta Sans" charset="0"/>
                <a:ea typeface="Plus Jakarta Sans" charset="0"/>
                <a:cs typeface="Plus Jakarta San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Plus Jakarta Sans" panose="02000503000000020004" pitchFamily="2" charset="0"/>
                <a:ea typeface="Plus Jakarta San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Plus Jakarta Sans" panose="02000503000000020004" pitchFamily="2" charset="0"/>
                <a:ea typeface="Plus Jakarta San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Plus Jakarta Sans" panose="02000503000000020004" pitchFamily="2" charset="0"/>
                <a:ea typeface="Plus Jakarta San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Plus Jakarta San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Plus Jakarta Sans" panose="02000503000000020004" pitchFamily="2" charset="0"/>
                <a:ea typeface="Plus Jakarta Sans" panose="02000503000000020004" pitchFamily="2" charset="0"/>
                <a:cs typeface="Plus Jakarta San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rgbClr val="E8E2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Plus Jakarta Sans" panose="02000503000000020004" pitchFamily="2" charset="0"/>
                <a:ea typeface="Plus Jakarta Sans" charset="0"/>
                <a:cs typeface="Plus Jakarta San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RUANGPIJAR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accent1"/>
          </a:solidFill>
          <a:latin typeface="Plus Jakarta Sans" pitchFamily="2" charset="0"/>
          <a:ea typeface="Plus Jakarta Sans" charset="0"/>
          <a:cs typeface="Plus Jakarta San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Plus Jakarta Sans" panose="02000503000000020004" pitchFamily="2" charset="0"/>
          <a:ea typeface="Plus Jakarta Sans" charset="0"/>
          <a:cs typeface="Plus Jakarta San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Plus Jakarta Sans" panose="02000503000000020004" pitchFamily="2" charset="0"/>
          <a:ea typeface="Plus Jakarta Sans" charset="0"/>
          <a:cs typeface="Plus Jakarta San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Plus Jakarta Sans" panose="02000503000000020004" pitchFamily="2" charset="0"/>
          <a:ea typeface="Plus Jakarta Sans" charset="0"/>
          <a:cs typeface="Plus Jakarta San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Plus Jakarta Sans" panose="02000503000000020004" pitchFamily="2" charset="0"/>
          <a:ea typeface="Plus Jakarta Sans" charset="0"/>
          <a:cs typeface="Plus Jakarta San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Plus Jakarta Sans" charset="0"/>
          <a:cs typeface="Plus Jakarta San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ang_pij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51560"/>
            <a:ext cx="964154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331720"/>
            <a:ext cx="6583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5B3A52"/>
                </a:solidFill>
                <a:latin typeface="Sora"/>
              </a:rPr>
              <a:t>RuangPijar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292525"/>
                </a:solidFill>
                <a:latin typeface="Sora"/>
              </a:rPr>
              <a:t>Ruang kecil untuk memahami dirimu.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069080"/>
            <a:ext cx="2926080" cy="19050"/>
          </a:xfrm>
          <a:prstGeom prst="rect">
            <a:avLst/>
          </a:prstGeom>
          <a:solidFill>
            <a:srgbClr val="E9A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315968"/>
            <a:ext cx="5760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746E6A"/>
                </a:solidFill>
                <a:latin typeface="Plus Jakarta Sans"/>
              </a:rPr>
              <a:t>MindCraft Web Competition 2026 — Building Digital Solutions for Mental Well-being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746E6A"/>
                </a:solidFill>
                <a:latin typeface="Plus Jakarta Sans"/>
              </a:rPr>
              <a:t>Tim CH — Yogawan A. P. T. (Frontend &amp; UI/UX), S. Ridho E. (Frontend), A. Gading S. (Backend), Latief R. (Backend)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3212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3A52"/>
                </a:solidFill>
                <a:latin typeface="Sora"/>
              </a:rPr>
              <a:t>Reflect  →  Record  →  Understand  →  Act</a:t>
            </a:r>
          </a:p>
        </p:txBody>
      </p:sp>
      <p:pic>
        <p:nvPicPr>
          <p:cNvPr id="8" name="Picture 7" descr="Hero-980x980-b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80" y="1188720"/>
            <a:ext cx="44805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Akademik</a:t>
            </a:r>
          </a:p>
          <a:p>
            <a:pPr lvl="1"/>
            <a:r>
              <a:rPr>
                <a:solidFill/>
                <a:latin typeface="Plus Jakarta Sans"/>
              </a:rPr>
              <a:t>Tuntutan dan tenggat saling menimpa</a:t>
            </a:r>
          </a:p>
          <a:p>
            <a:pPr lvl="1"/>
            <a:r>
              <a:rPr>
                <a:solidFill/>
                <a:latin typeface="Plus Jakarta Sans"/>
              </a:rPr>
              <a:t>Menumpuk tanpa sempat dijeda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Keseharian</a:t>
            </a:r>
          </a:p>
          <a:p>
            <a:pPr lvl="1"/>
            <a:r>
              <a:rPr>
                <a:solidFill/>
                <a:latin typeface="Plus Jakarta Sans"/>
              </a:rPr>
              <a:t>Tidur berantakan berhari-hari</a:t>
            </a:r>
          </a:p>
          <a:p>
            <a:pPr lvl="1"/>
            <a:r>
              <a:rPr>
                <a:solidFill/>
                <a:latin typeface="Plus Jakarta Sans"/>
              </a:rPr>
              <a:t>Energi habis tanpa disadari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Sosial &amp; Personal</a:t>
            </a:r>
          </a:p>
          <a:p>
            <a:pPr lvl="1"/>
            <a:r>
              <a:rPr>
                <a:solidFill/>
                <a:latin typeface="Plus Jakarta Sans"/>
              </a:rPr>
              <a:t>Hal-hal yang disimpan sendiri</a:t>
            </a:r>
          </a:p>
          <a:p>
            <a:pPr lvl="1"/>
            <a:r>
              <a:rPr>
                <a:solidFill/>
                <a:latin typeface="Plus Jakarta Sans"/>
              </a:rPr>
              <a:t>Jarang sempat diceritakan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Yang Riset Katakan</a:t>
            </a:r>
          </a:p>
          <a:p>
            <a:pPr lvl="1"/>
            <a:r>
              <a:rPr>
                <a:solidFill/>
                <a:latin typeface="Plus Jakarta Sans"/>
              </a:rPr>
              <a:t>Lattie dkk. 2019: 80% lewat web</a:t>
            </a:r>
          </a:p>
          <a:p>
            <a:pPr lvl="1"/>
            <a:r>
              <a:rPr>
                <a:solidFill/>
                <a:latin typeface="Plus Jakarta Sans"/>
              </a:rPr>
              <a:t>Usability jadi penentu efektivitas</a:t>
            </a:r>
          </a:p>
          <a:p>
            <a:pPr lvl="1"/>
            <a:r>
              <a:rPr>
                <a:solidFill/>
                <a:latin typeface="Plus Jakarta Sans"/>
              </a:rPr>
              <a:t>Naslund dkk. 2017: menutup celah akses</a:t>
            </a:r>
          </a:p>
          <a:p>
            <a:pPr lvl="1"/>
            <a:r>
              <a:rPr>
                <a:solidFill/>
                <a:latin typeface="Plus Jakarta Sans"/>
              </a:rPr>
              <a:t>Celahnya: pola belum sempat terbaca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Latar Belakang &amp; Urgensi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280160"/>
            <a:ext cx="1173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525"/>
                </a:solidFill>
                <a:latin typeface="Sora"/>
              </a:rPr>
              <a:t>Kita baru menyadarinya ketika semuanya sudah terasa terlalu berat.</a:t>
            </a:r>
          </a:p>
        </p:txBody>
      </p:sp>
      <p:pic>
        <p:nvPicPr>
          <p:cNvPr id="13" name="Picture 12" descr="01_Akademik-610x543-b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1847088"/>
            <a:ext cx="2790000" cy="2484492"/>
          </a:xfrm>
          <a:prstGeom prst="rect">
            <a:avLst/>
          </a:prstGeom>
        </p:spPr>
      </p:pic>
      <p:pic>
        <p:nvPicPr>
          <p:cNvPr id="14" name="Picture 13" descr="02_Keseharian-610x543-b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195" y="1847088"/>
            <a:ext cx="2790000" cy="2484492"/>
          </a:xfrm>
          <a:prstGeom prst="rect">
            <a:avLst/>
          </a:prstGeom>
        </p:spPr>
      </p:pic>
      <p:pic>
        <p:nvPicPr>
          <p:cNvPr id="15" name="Picture 14" descr="03_Sosial-Personal-610x543-b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815" y="1847088"/>
            <a:ext cx="2790000" cy="2484492"/>
          </a:xfrm>
          <a:prstGeom prst="rect">
            <a:avLst/>
          </a:prstGeom>
        </p:spPr>
      </p:pic>
      <p:pic>
        <p:nvPicPr>
          <p:cNvPr id="16" name="Picture 15" descr="Transparan-610x543-b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6436" y="1847088"/>
            <a:ext cx="2790000" cy="24844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Dua menit sehari, untuk melihat apa yang sedang terjadi pada dirimu.</a:t>
            </a:r>
          </a:p>
          <a:p>
            <a:pPr lvl="1"/>
            <a:r>
              <a:rPr i="1">
                <a:solidFill/>
                <a:latin typeface="Plus Jakarta Sans"/>
              </a:rPr>
              <a:t>Catatan kecil dari keseharian menjadi gambaran yang lebih mudah dipahami — tanpa diagnosis, tanpa label.</a:t>
            </a:r>
          </a:p>
          <a:p>
            <a:pPr lvl="1"/>
            <a:r>
              <a:rPr b="1">
                <a:solidFill/>
                <a:latin typeface="Plus Jakarta Sans"/>
              </a:rPr>
              <a:t>Terasa seperti percakapan, bukan kuesioner klinis</a:t>
            </a:r>
            <a:r>
              <a:rPr>
                <a:solidFill/>
                <a:latin typeface="Plus Jakarta Sans"/>
              </a:rPr>
              <a:t> — lima langkah pendek, boleh dilewati, tidak ada jawaban yang salah</a:t>
            </a:r>
          </a:p>
          <a:p>
            <a:pPr lvl="1"/>
            <a:r>
              <a:rPr b="1">
                <a:solidFill/>
                <a:latin typeface="Plus Jakarta Sans"/>
              </a:rPr>
              <a:t>Pola dari datamu sendiri</a:t>
            </a:r>
            <a:r>
              <a:rPr>
                <a:solidFill/>
                <a:latin typeface="Plus Jakarta Sans"/>
              </a:rPr>
              <a:t> — insight dihitung dari check-in pengguna, bukan dari asumsi tentang orang lain</a:t>
            </a:r>
          </a:p>
          <a:p>
            <a:pPr lvl="1"/>
            <a:r>
              <a:rPr b="1">
                <a:solidFill/>
                <a:latin typeface="Plus Jakarta Sans"/>
              </a:rPr>
              <a:t>Berujung pada langkah kecil</a:t>
            </a:r>
            <a:r>
              <a:rPr>
                <a:solidFill/>
                <a:latin typeface="Plus Jakarta Sans"/>
              </a:rPr>
              <a:t> — setiap pemahaman punya tindak lanjut yang bisa dikerjakan hari itu juga</a:t>
            </a:r>
          </a:p>
          <a:p>
            <a:pPr lvl="1"/>
            <a:r>
              <a:rPr>
                <a:solidFill/>
                <a:latin typeface="Plus Jakarta Sans"/>
              </a:rPr>
              <a:t>Empat halaman utama: /check-in · /jejak · /insight · /ruang — gratis, privat, sekitar 2 menit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Pengenalan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3</a:t>
            </a:r>
          </a:p>
        </p:txBody>
      </p:sp>
      <p:pic>
        <p:nvPicPr>
          <p:cNvPr id="6" name="Picture 5" descr="hero_images-1318x1080-b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850" y="891090"/>
            <a:ext cx="602614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Reflect · /check-in</a:t>
            </a:r>
          </a:p>
          <a:p>
            <a:pPr lvl="1"/>
            <a:r>
              <a:rPr>
                <a:solidFill/>
                <a:latin typeface="Plus Jakarta Sans"/>
              </a:rPr>
              <a:t>Kondisi harian tidak terbaca</a:t>
            </a:r>
          </a:p>
          <a:p>
            <a:pPr lvl="1"/>
            <a:r>
              <a:rPr>
                <a:solidFill/>
                <a:latin typeface="Plus Jakarta Sans"/>
              </a:rPr>
              <a:t>Dua menit membuatnya bisa dicatat</a:t>
            </a:r>
          </a:p>
          <a:p>
            <a:pPr lvl="1"/>
            <a:r>
              <a:rPr>
                <a:solidFill/>
                <a:latin typeface="Plus Jakarta Sans"/>
              </a:rPr>
              <a:t>Fokus dan waktunya diatur sendiri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Record · /jejak</a:t>
            </a:r>
          </a:p>
          <a:p>
            <a:pPr lvl="1"/>
            <a:r>
              <a:rPr>
                <a:solidFill/>
                <a:latin typeface="Plus Jakarta Sans"/>
              </a:rPr>
              <a:t>Satu hari tidak bercerita apa-apa</a:t>
            </a:r>
          </a:p>
          <a:p>
            <a:pPr lvl="1"/>
            <a:r>
              <a:rPr>
                <a:solidFill/>
                <a:latin typeface="Plus Jakarta Sans"/>
              </a:rPr>
              <a:t>Hari-hari jadi satu rentang utuh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Understand · /insight</a:t>
            </a:r>
          </a:p>
          <a:p>
            <a:pPr lvl="1"/>
            <a:r>
              <a:rPr>
                <a:solidFill/>
                <a:latin typeface="Plus Jakarta Sans"/>
              </a:rPr>
              <a:t>Pola tidak muncul sendiri</a:t>
            </a:r>
          </a:p>
          <a:p>
            <a:pPr lvl="1"/>
            <a:r>
              <a:rPr>
                <a:solidFill/>
                <a:latin typeface="Plus Jakarta Sans"/>
              </a:rPr>
              <a:t>Keterkaitan dibaca beserta dasarnya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Act · /ruang</a:t>
            </a:r>
          </a:p>
          <a:p>
            <a:pPr lvl="1"/>
            <a:r>
              <a:rPr>
                <a:solidFill/>
                <a:latin typeface="Plus Jakarta Sans"/>
              </a:rPr>
              <a:t>Tahu saja tidak mengubah apa pun</a:t>
            </a:r>
          </a:p>
          <a:p>
            <a:pPr lvl="1"/>
            <a:r>
              <a:rPr>
                <a:solidFill/>
                <a:latin typeface="Plus Jakarta Sans"/>
              </a:rPr>
              <a:t>Satu langkah kecil yang relevan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Konsep Solusi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280160"/>
            <a:ext cx="1173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525"/>
                </a:solidFill>
                <a:latin typeface="Sora"/>
              </a:rPr>
              <a:t>Mencatat saja tidak cukup. Lingkarannya harus ditutup.</a:t>
            </a:r>
          </a:p>
        </p:txBody>
      </p:sp>
      <p:pic>
        <p:nvPicPr>
          <p:cNvPr id="13" name="Picture 12" descr="01_Check-in-610x543-b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1847088"/>
            <a:ext cx="2790000" cy="2484492"/>
          </a:xfrm>
          <a:prstGeom prst="rect">
            <a:avLst/>
          </a:prstGeom>
        </p:spPr>
      </p:pic>
      <p:pic>
        <p:nvPicPr>
          <p:cNvPr id="14" name="Picture 13" descr="02_Jejak-610x543-b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195" y="1847088"/>
            <a:ext cx="2790000" cy="2484492"/>
          </a:xfrm>
          <a:prstGeom prst="rect">
            <a:avLst/>
          </a:prstGeom>
        </p:spPr>
      </p:pic>
      <p:pic>
        <p:nvPicPr>
          <p:cNvPr id="15" name="Picture 14" descr="03_Insight-610x543-b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815" y="1847088"/>
            <a:ext cx="2790000" cy="2484492"/>
          </a:xfrm>
          <a:prstGeom prst="rect">
            <a:avLst/>
          </a:prstGeom>
        </p:spPr>
      </p:pic>
      <p:pic>
        <p:nvPicPr>
          <p:cNvPr id="16" name="Picture 15" descr="04_Ruang-610x543-b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6436" y="1847088"/>
            <a:ext cx="2790000" cy="24844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Kenali kondisi diri, sebelum menentukan langkah berikutnya.</a:t>
            </a:r>
          </a:p>
          <a:p>
            <a:pPr lvl="1"/>
            <a:r>
              <a:rPr i="1">
                <a:solidFill/>
                <a:latin typeface="Plus Jakarta Sans"/>
              </a:rPr>
              <a:t>Lima langkah pendek. Yang tidak wajib boleh dilewati, dan tidak ada jawaban yang salah.</a:t>
            </a:r>
          </a:p>
          <a:p>
            <a:pPr lvl="1"/>
            <a:r>
              <a:rPr b="1">
                <a:solidFill/>
                <a:latin typeface="Plus Jakarta Sans"/>
              </a:rPr>
              <a:t>Mood</a:t>
            </a:r>
            <a:r>
              <a:rPr>
                <a:solidFill/>
                <a:latin typeface="Plus Jakarta Sans"/>
              </a:rPr>
              <a:t> dipilih lewat lima wajah ilustratif: Berat, Rendah, Biasa, Baik, Sangat baik</a:t>
            </a:r>
          </a:p>
          <a:p>
            <a:pPr lvl="1"/>
            <a:r>
              <a:rPr b="1">
                <a:solidFill/>
                <a:latin typeface="Plus Jakarta Sans"/>
              </a:rPr>
              <a:t>Energi dan stres</a:t>
            </a:r>
            <a:r>
              <a:rPr>
                <a:solidFill/>
                <a:latin typeface="Plus Jakarta Sans"/>
              </a:rPr>
              <a:t> pada skala 1–10 yang bisa digeser</a:t>
            </a:r>
          </a:p>
          <a:p>
            <a:pPr lvl="1"/>
            <a:r>
              <a:rPr b="1">
                <a:solidFill/>
                <a:latin typeface="Plus Jakarta Sans"/>
              </a:rPr>
              <a:t>Jam tidur, beban akademik, beban sosial</a:t>
            </a:r>
            <a:r>
              <a:rPr>
                <a:solidFill/>
                <a:latin typeface="Plus Jakarta Sans"/>
              </a:rPr>
              <a:t> — opsional; dikosongkan berarti tidak dijawab, bukan nol</a:t>
            </a:r>
          </a:p>
          <a:p>
            <a:pPr lvl="1"/>
            <a:r>
              <a:rPr b="1">
                <a:solidFill/>
                <a:latin typeface="Plus Jakarta Sans"/>
              </a:rPr>
              <a:t>Faktor pemicu</a:t>
            </a:r>
            <a:r>
              <a:rPr>
                <a:solidFill/>
                <a:latin typeface="Plus Jakarta Sans"/>
              </a:rPr>
              <a:t> dari sembilan pilihan, plus ruang refleksi bebas hingga 2.000 karakter</a:t>
            </a:r>
          </a:p>
          <a:p>
            <a:pPr lvl="1"/>
            <a:r>
              <a:rPr>
                <a:solidFill/>
                <a:latin typeface="Plus Jakarta Sans"/>
              </a:rPr>
              <a:t>Setiap check-in menghidupkan </a:t>
            </a:r>
            <a:r>
              <a:rPr b="1">
                <a:solidFill/>
                <a:latin typeface="Plus Jakarta Sans"/>
              </a:rPr>
              <a:t>streak harian</a:t>
            </a:r>
            <a:r>
              <a:rPr>
                <a:solidFill/>
                <a:latin typeface="Plus Jakarta Sans"/>
              </a:rPr>
              <a:t>; pengingat dikirim lewat email sebelum streak hangus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Check-in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5</a:t>
            </a:r>
          </a:p>
        </p:txBody>
      </p:sp>
      <p:pic>
        <p:nvPicPr>
          <p:cNvPr id="6" name="Picture 5" descr="Check-in-Tutorial-1318x1080-b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850" y="891090"/>
            <a:ext cx="602614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Kalender Bulanan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Hari yang sudah diisi tampil berwarna — sebulan terbaca dalam satu layar</a:t>
            </a:r>
          </a:p>
          <a:p>
            <a:pPr lvl="1"/>
            <a:r>
              <a:rPr>
                <a:solidFill/>
                <a:latin typeface="Plus Jakarta Sans"/>
              </a:rPr>
              <a:t>Ketuk tanggalnya untuk membaca ulang check-in hari itu secara utuh</a:t>
            </a:r>
          </a:p>
          <a:p>
            <a:pPr lvl="1"/>
            <a:r>
              <a:rPr>
                <a:solidFill/>
                <a:latin typeface="Plus Jakarta Sans"/>
              </a:rPr>
              <a:t>Catatan lama tetap bisa dibuka dan disunting; jejak bukan arsip yang terkunci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Latihan &amp; Insight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Latihan yang dijalani dari Ruang tercatat kembali di sini</a:t>
            </a:r>
          </a:p>
          <a:p>
            <a:pPr lvl="1"/>
            <a:r>
              <a:rPr>
                <a:solidFill/>
                <a:latin typeface="Plus Jakarta Sans"/>
              </a:rPr>
              <a:t>Pola yang ditemukan sepanjang jalan ikut masuk ke kolom yang sama</a:t>
            </a:r>
          </a:p>
          <a:p>
            <a:pPr lvl="1"/>
            <a:r>
              <a:rPr>
                <a:solidFill/>
                <a:latin typeface="Plus Jakarta Sans"/>
              </a:rPr>
              <a:t>Terbaru lebih dulu, dimuat bertahap saat digulir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Jejak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280160"/>
            <a:ext cx="1173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525"/>
                </a:solidFill>
                <a:latin typeface="Sora"/>
              </a:rPr>
              <a:t>Satu hari terasa biasa. Sebulan mulai bercerita.</a:t>
            </a:r>
          </a:p>
        </p:txBody>
      </p:sp>
      <p:pic>
        <p:nvPicPr>
          <p:cNvPr id="9" name="Picture 8" descr="02_Jejak-843x544-b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69" y="1847088"/>
            <a:ext cx="3858534" cy="2489377"/>
          </a:xfrm>
          <a:prstGeom prst="rect">
            <a:avLst/>
          </a:prstGeom>
        </p:spPr>
      </p:pic>
      <p:pic>
        <p:nvPicPr>
          <p:cNvPr id="10" name="Picture 9" descr="Action-Tutorial-843x544-b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157" y="1847088"/>
            <a:ext cx="3858534" cy="24893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Keterkaitan</a:t>
            </a:r>
          </a:p>
          <a:p>
            <a:pPr lvl="1"/>
            <a:r>
              <a:rPr>
                <a:solidFill/>
                <a:latin typeface="Plus Jakarta Sans"/>
              </a:rPr>
              <a:t>Hubungan jam tidur dan stres</a:t>
            </a:r>
          </a:p>
          <a:p>
            <a:pPr lvl="1"/>
            <a:r>
              <a:rPr>
                <a:solidFill/>
                <a:latin typeface="Plus Jakarta Sans"/>
              </a:rPr>
              <a:t>Ditampilkan beserta kekuatannya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Tren</a:t>
            </a:r>
          </a:p>
          <a:p>
            <a:pPr lvl="1"/>
            <a:r>
              <a:rPr>
                <a:solidFill/>
                <a:latin typeface="Plus Jakarta Sans"/>
              </a:rPr>
              <a:t>Arah mood, stres, dan energi</a:t>
            </a:r>
          </a:p>
          <a:p>
            <a:pPr lvl="1"/>
            <a:r>
              <a:rPr>
                <a:solidFill/>
                <a:latin typeface="Plus Jakarta Sans"/>
              </a:rPr>
              <a:t>Dalam 14 hari terakhir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Pola</a:t>
            </a:r>
          </a:p>
          <a:p>
            <a:pPr lvl="1"/>
            <a:r>
              <a:rPr>
                <a:solidFill/>
                <a:latin typeface="Plus Jakarta Sans"/>
              </a:rPr>
              <a:t>Faktor yang paling sering muncul</a:t>
            </a:r>
          </a:p>
          <a:p>
            <a:pPr lvl="1"/>
            <a:r>
              <a:rPr>
                <a:solidFill/>
                <a:latin typeface="Plus Jakarta Sans"/>
              </a:rPr>
              <a:t>Beserta seberapa besar porsinya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Selalu Ditelusuri</a:t>
            </a:r>
          </a:p>
          <a:p>
            <a:pPr lvl="1"/>
            <a:r>
              <a:rPr>
                <a:solidFill/>
                <a:latin typeface="Plus Jakarta Sans"/>
              </a:rPr>
              <a:t>Metrik, periode, keyakinan tertulis</a:t>
            </a:r>
          </a:p>
          <a:p>
            <a:pPr lvl="1"/>
            <a:r>
              <a:rPr>
                <a:solidFill/>
                <a:latin typeface="Plus Jakarta Sans"/>
              </a:rPr>
              <a:t>Hanya dicari saat kamu memintanya</a:t>
            </a:r>
          </a:p>
          <a:p>
            <a:pPr lvl="1"/>
            <a:r>
              <a:rPr>
                <a:solidFill/>
                <a:latin typeface="Plus Jakarta Sans"/>
              </a:rPr>
              <a:t>Kalau data kurang, dikatakan apa adanya</a:t>
            </a:r>
          </a:p>
          <a:p>
            <a:pPr lvl="1"/>
            <a:r>
              <a:rPr>
                <a:solidFill/>
                <a:latin typeface="Plus Jakarta Sans"/>
              </a:rPr>
              <a:t>Bukan diagnosis, bukan label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280160"/>
            <a:ext cx="1173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525"/>
                </a:solidFill>
                <a:latin typeface="Sora"/>
              </a:rPr>
              <a:t>"Oh, ternyata..." — pola yang selama ini terlewat.</a:t>
            </a:r>
          </a:p>
        </p:txBody>
      </p:sp>
      <p:pic>
        <p:nvPicPr>
          <p:cNvPr id="13" name="Picture 12" descr="02_Jejak-Keseharian-610x543-b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1847088"/>
            <a:ext cx="2790000" cy="2484492"/>
          </a:xfrm>
          <a:prstGeom prst="rect">
            <a:avLst/>
          </a:prstGeom>
        </p:spPr>
      </p:pic>
      <p:pic>
        <p:nvPicPr>
          <p:cNvPr id="14" name="Picture 13" descr="03_Personal-Insight-610x543-b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195" y="1847088"/>
            <a:ext cx="2790000" cy="2484492"/>
          </a:xfrm>
          <a:prstGeom prst="rect">
            <a:avLst/>
          </a:prstGeom>
        </p:spPr>
      </p:pic>
      <p:pic>
        <p:nvPicPr>
          <p:cNvPr id="15" name="Picture 14" descr="03_Insight-610x543-b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815" y="1847088"/>
            <a:ext cx="2790000" cy="2484492"/>
          </a:xfrm>
          <a:prstGeom prst="rect">
            <a:avLst/>
          </a:prstGeom>
        </p:spPr>
      </p:pic>
      <p:pic>
        <p:nvPicPr>
          <p:cNvPr id="16" name="Picture 15" descr="Transparan-610x543-b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6436" y="1847088"/>
            <a:ext cx="2790000" cy="24844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Tidak harus melakukan semuanya. Cukup satu hal kecil hari ini.</a:t>
            </a:r>
          </a:p>
          <a:p>
            <a:pPr lvl="1"/>
            <a:r>
              <a:rPr i="1">
                <a:solidFill/>
                <a:latin typeface="Plus Jakarta Sans"/>
              </a:rPr>
              <a:t>Ruang menyusun saran dari faktor yang paling sering muncul di check-in terakhirmu.</a:t>
            </a:r>
          </a:p>
          <a:p>
            <a:pPr lvl="1"/>
            <a:r>
              <a:rPr>
                <a:solidFill/>
                <a:latin typeface="Plus Jakarta Sans"/>
              </a:rPr>
              <a:t>Tab </a:t>
            </a:r>
            <a:r>
              <a:rPr b="1">
                <a:solidFill/>
                <a:latin typeface="Plus Jakarta Sans"/>
              </a:rPr>
              <a:t>"Untuk kamu"</a:t>
            </a:r>
            <a:r>
              <a:rPr>
                <a:solidFill/>
                <a:latin typeface="Plus Jakarta Sans"/>
              </a:rPr>
              <a:t> membaca lima check-in terakhir, mengambil faktor tersering, lalu mencocokkannya dengan latihan yang relevan</a:t>
            </a:r>
          </a:p>
          <a:p>
            <a:pPr lvl="1"/>
            <a:r>
              <a:rPr b="1">
                <a:solidFill/>
                <a:latin typeface="Plus Jakarta Sans"/>
              </a:rPr>
              <a:t>Enam kategori</a:t>
            </a:r>
            <a:r>
              <a:rPr>
                <a:solidFill/>
                <a:latin typeface="Plus Jakarta Sans"/>
              </a:rPr>
              <a:t> untuk ditelusuri sendiri: Refleksi, Napas, Pemulihan, Perencanaan, Belajar, Dukungan</a:t>
            </a:r>
          </a:p>
          <a:p>
            <a:pPr lvl="1"/>
            <a:r>
              <a:rPr>
                <a:solidFill/>
                <a:latin typeface="Plus Jakarta Sans"/>
              </a:rPr>
              <a:t>Setiap latihan menampilkan </a:t>
            </a:r>
            <a:r>
              <a:rPr b="1">
                <a:solidFill/>
                <a:latin typeface="Plus Jakarta Sans"/>
              </a:rPr>
              <a:t>jenis dan perkiraan durasi</a:t>
            </a:r>
            <a:r>
              <a:rPr>
                <a:solidFill/>
                <a:latin typeface="Plus Jakarta Sans"/>
              </a:rPr>
              <a:t> sebelum dimulai — tidak ada komitmen yang mengagetkan</a:t>
            </a:r>
          </a:p>
          <a:p>
            <a:pPr lvl="1"/>
            <a:r>
              <a:rPr b="1">
                <a:solidFill/>
                <a:latin typeface="Plus Jakarta Sans"/>
              </a:rPr>
              <a:t>Mulai, lalu Selesai atau Lewati</a:t>
            </a:r>
            <a:r>
              <a:rPr>
                <a:solidFill/>
                <a:latin typeface="Plus Jakarta Sans"/>
              </a:rPr>
              <a:t> — keduanya tercatat, dan keduanya sama-sama tidak apa-apa</a:t>
            </a:r>
          </a:p>
          <a:p>
            <a:pPr lvl="1"/>
            <a:r>
              <a:rPr>
                <a:solidFill/>
                <a:latin typeface="Plus Jakarta Sans"/>
              </a:rPr>
              <a:t>Alasannya ditulis terbuka di layar: </a:t>
            </a:r>
            <a:r>
              <a:rPr i="1">
                <a:solidFill/>
                <a:latin typeface="Plus Jakarta Sans"/>
              </a:rPr>
              <a:t>"Disarankan dari check-in terakhirmu: Akademik, Tidur."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Ruang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8</a:t>
            </a:r>
          </a:p>
        </p:txBody>
      </p:sp>
      <p:pic>
        <p:nvPicPr>
          <p:cNvPr id="6" name="Picture 5" descr="04_Ruang-untuk-Bertindak-1318x1080-b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850" y="891090"/>
            <a:ext cx="602614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1. Malam Ini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Dua menit di /check-in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Mood, energi, stres, faktor tersimpan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56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2. Saat Itu Juga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/jejak bertambah satu hari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Kalender bulan ini makin terisi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57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3. Setelah Beberapa Hari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Pengguna menekan "Cari pola baru"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/insight mulai menemukan keterkaitan</a:t>
            </a:r>
          </a:p>
          <a:p>
            <a:pPr lvl="1"/>
          </a:p>
        </p:txBody>
      </p:sp>
      <p:sp>
        <p:nvSpPr>
          <p:cNvPr id="5" name="Text Placeholder 4"/>
          <p:cNvSpPr>
            <a:spLocks noGrp="1"/>
          </p:cNvSpPr>
          <p:nvPr>
            <p:ph type="body" idx="58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4. Hari Berikutnya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/ruang menyesuaikan sarannya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Mengikuti faktor yang tersering</a:t>
            </a:r>
          </a:p>
          <a:p>
            <a:pPr lvl="1"/>
          </a:p>
        </p:txBody>
      </p:sp>
      <p:sp>
        <p:nvSpPr>
          <p:cNvPr id="6" name="Text Placeholder 5"/>
          <p:cNvSpPr>
            <a:spLocks noGrp="1"/>
          </p:cNvSpPr>
          <p:nvPr>
            <p:ph type="body" idx="59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5. Kembali ke Awal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Latihan tercatat lagi di /jejak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Streak menjaga kebiasaannya hidup</a:t>
            </a:r>
          </a:p>
          <a:p>
            <a:pPr lvl="1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Alur Pengguna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292525"/>
                </a:solidFill>
              </a:rPr>
              <a:t>Empat halaman, satu lingkaran yang menutup sendiri.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Arsitektur Teknologi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847088"/>
          <a:ext cx="8683525" cy="388620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16278"/>
                <a:gridCol w="5867247"/>
              </a:tblGrid>
              <a:tr h="566928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AF8F4"/>
                          </a:solidFill>
                          <a:latin typeface="Sora"/>
                        </a:rPr>
                        <a:t>Lapisan</a:t>
                      </a:r>
                    </a:p>
                  </a:txBody>
                  <a:tcPr marL="164592" marR="164592" anchor="ctr">
                    <a:solidFill>
                      <a:srgbClr val="5B3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AF8F4"/>
                          </a:solidFill>
                          <a:latin typeface="Sora"/>
                        </a:rPr>
                        <a:t>Teknologi &amp; Cakupan</a:t>
                      </a:r>
                    </a:p>
                  </a:txBody>
                  <a:tcPr marL="164592" marR="164592" anchor="ctr">
                    <a:solidFill>
                      <a:srgbClr val="5B3A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Frontend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Next.js 16 App Router, React 19, TypeScript, Tailwind CSS v4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Antarmuka</a:t>
                      </a:r>
                    </a:p>
                  </a:txBody>
                  <a:tcPr marL="164592" marR="16459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GSAP untuk animasi scroll, react-joyride untuk panduan, Lucide untuk ikon</a:t>
                      </a:r>
                    </a:p>
                  </a:txBody>
                  <a:tcPr marL="164592" marR="164592" anchor="ctr">
                    <a:solidFill>
                      <a:srgbClr val="FAF8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BFF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Route Handlers app/api: check-ins, jejak, insights, actions, action-logs, personalization, upload, cron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Data</a:t>
                      </a:r>
                    </a:p>
                  </a:txBody>
                  <a:tcPr marL="164592" marR="16459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MongoDB + Mongoose — User, CheckIn, Insight, Action, ActionLog, Personalization</a:t>
                      </a:r>
                    </a:p>
                  </a:txBody>
                  <a:tcPr marL="164592" marR="164592" anchor="ctr">
                    <a:solidFill>
                      <a:srgbClr val="FAF8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Autentikasi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Auth.js v5 berbasis JWT — Google OAuth dan email/password (hash bcrypt)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Pendukung</a:t>
                      </a:r>
                    </a:p>
                  </a:txBody>
                  <a:tcPr marL="164592" marR="16459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Cloudinary untuk foto profil, Nodemailer/Gmail SMTP, Vercel Cron harian pukul 01.00</a:t>
                      </a:r>
                    </a:p>
                  </a:txBody>
                  <a:tcPr marL="164592" marR="164592" anchor="ctr">
                    <a:solidFill>
                      <a:srgbClr val="FAF8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Dokumentasi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92525"/>
                          </a:solidFill>
                          <a:latin typeface="Plus Jakarta Sans"/>
                        </a:rPr>
                        <a:t>Spesifikasi OpenAPI yang dapat dibuka langsung di /docs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280160"/>
            <a:ext cx="1173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525"/>
                </a:solidFill>
                <a:latin typeface="Sora"/>
              </a:rPr>
              <a:t>Satu aplikasi, satu sumber kebenaran, tanpa lapisan yang tidak perlu.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2. Processing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Dipicu pengguna lewat POST /api/insights/generate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Rentang 14 hari terakhir, minimal 3 catatan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Tren: selisih rata-rata paruh awal dan akhir ≥ 0,75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Keterkaitan: korelasi Pearson tidur dan stres ≥ 0,4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3. Output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Pola: satu faktor muncul pada ≥ 40% check-in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Kandidat lolos disimpan dengan metrik dan keyakinan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Tampil sebagai kartu di /insight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Bila tak ada yang lolos: "Belum cukup data"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1. Input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Form check-in dikirim ke POST /api/check-ins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Sesi diverifikasi, catatan tersimpan terikat userId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Streak harian ikut diperbarui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Cara Kerja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292525"/>
                </a:solidFill>
              </a:rPr>
              <a:t>Dari satu check-in menjadi satu pola — setiap langkahnya bisa diperiksa.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1. Identifikasi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Studi literatur dan guidebook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Perumusan masalah pengguna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2. Perancangan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Alur produk dan sistem desain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Skema data dan kontrak API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3. Pengembangan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Frontend, BFF, dan basis data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Integrasi layanan pendukung</a:t>
            </a:r>
          </a:p>
          <a:p>
            <a:pPr lvl="1"/>
          </a:p>
        </p:txBody>
      </p:sp>
      <p:sp>
        <p:nvSpPr>
          <p:cNvPr id="5" name="Text Placeholder 4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4. Pengujian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Uji fungsional tiap endpoint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Uji aturan insight dan aksesibilitas</a:t>
            </a:r>
          </a:p>
          <a:p>
            <a:pPr lvl="1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Metodologi Riset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292525"/>
                </a:solidFill>
              </a:rPr>
              <a:t>Dikembangkan bertahap, dengan pengujian sebagai penutup tiap siklus.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>
          <a:xfrm>
            <a:off x="4698998" y="1632223"/>
            <a:ext cx="2791884" cy="3899897"/>
          </a:xfrm>
        </p:spPr>
        <p:txBody>
          <a:bodyPr anchor="t"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2. UI/UX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Ruang yang tenang, bukan dashboard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Maskot Pijar memandu lewat spotlight tour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Bisa diputar ulang kapan saja dari Profil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Warna bukan penanda tunggal; fokus keyboard jelas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>
          <a:xfrm>
            <a:off x="9244541" y="1632222"/>
            <a:ext cx="2791884" cy="3899898"/>
          </a:xfrm>
        </p:spPr>
        <p:txBody>
          <a:bodyPr anchor="t"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3. Privasi &amp; Etika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Tiap endpoint memeriksa sesi lebih dulu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Query terikat userId, sandi disimpan hash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Refleksi, bukan pengganti tenaga profesional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Dampak: kondisi dikenali lebih awal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>
          <a:xfrm>
            <a:off x="155575" y="1632222"/>
            <a:ext cx="2789765" cy="3899898"/>
          </a:xfrm>
        </p:spPr>
        <p:txBody>
          <a:bodyPr anchor="t"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1. Inovasi</a:t>
            </a:r>
          </a:p>
          <a:p>
            <a:pPr/>
          </a:p>
          <a:p>
            <a:pPr lvl="1"/>
            <a:r>
              <a:rPr>
                <a:solidFill/>
                <a:latin typeface="Plus Jakarta Sans"/>
              </a:rPr>
              <a:t>Tiap kartu menyebut metrik, periode, keyakinan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Aturannya bisa dijelaskan, tanpa black-box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Pola hanya dicari saat pengguna meminta</a:t>
            </a:r>
          </a:p>
          <a:p>
            <a:pPr lvl="1"/>
          </a:p>
          <a:p>
            <a:pPr lvl="1"/>
            <a:r>
              <a:rPr>
                <a:solidFill/>
                <a:latin typeface="Plus Jakarta Sans"/>
              </a:rPr>
              <a:t>Dasar tiap saran ditulis terbuka di layar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Nilai Tambah, UI/UX &amp; Dampak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371600"/>
            <a:ext cx="11734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100">
                <a:solidFill>
                  <a:srgbClr val="292525"/>
                </a:solidFill>
              </a:rPr>
              <a:t>Bukan yang paling pintar — yang paling bisa dipercaya.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7150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AF8F4"/>
          </a:solidFill>
          <a:ln w="9525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" y="6163056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46E6A"/>
                </a:solidFill>
                <a:latin typeface="Plus Jakarta Sans"/>
              </a:rPr>
              <a:t>Ivory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" y="57150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5B3A52"/>
          </a:solidFill>
          <a:ln w="9525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163056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46E6A"/>
                </a:solidFill>
                <a:latin typeface="Plus Jakarta Sans"/>
              </a:rPr>
              <a:t>Plum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53312" y="57150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9A68D"/>
          </a:solidFill>
          <a:ln w="9525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6" y="6163056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46E6A"/>
                </a:solidFill>
                <a:latin typeface="Plus Jakarta Sans"/>
              </a:rPr>
              <a:t>Peach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92808" y="57150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8FA58D"/>
          </a:solidFill>
          <a:ln w="9525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64792" y="6163056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46E6A"/>
                </a:solidFill>
                <a:latin typeface="Plus Jakarta Sans"/>
              </a:rPr>
              <a:t>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32304" y="57150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EE5EC"/>
          </a:solidFill>
          <a:ln w="9525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04288" y="6163056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46E6A"/>
                </a:solidFill>
                <a:latin typeface="Plus Jakarta Sans"/>
              </a:rPr>
              <a:t>Muted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57150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292525"/>
          </a:solidFill>
          <a:ln w="9525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43784" y="6163056"/>
            <a:ext cx="667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746E6A"/>
                </a:solidFill>
                <a:latin typeface="Plus Jakarta Sans"/>
              </a:rPr>
              <a:t>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1336" y="5660136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B3A52"/>
                </a:solidFill>
                <a:latin typeface="Sora"/>
              </a:rPr>
              <a:t>Sora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6" y="6025896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46E6A"/>
                </a:solidFill>
                <a:latin typeface="Plus Jakarta Sans"/>
              </a:rPr>
              <a:t>Plus Jakarta Sans  ·  tipografi produk</a:t>
            </a:r>
          </a:p>
        </p:txBody>
      </p:sp>
      <p:pic>
        <p:nvPicPr>
          <p:cNvPr id="22" name="Picture 21" descr="Hero-cut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640" y="56235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/>
            <a:r>
              <a:rPr b="1">
                <a:solidFill>
                  <a:srgbClr val="5B3A52"/>
                </a:solidFill>
                <a:latin typeface="Sora"/>
              </a:rPr>
              <a:t>Dua menit. Silakan coba sendiri sekarang.</a:t>
            </a:r>
          </a:p>
          <a:p>
            <a:pPr lvl="1"/>
            <a:r>
              <a:rPr i="1">
                <a:solidFill/>
                <a:latin typeface="Plus Jakarta Sans"/>
              </a:rPr>
              <a:t>Cara tercepat memahami RuangPijar adalah dengan mengisi satu check-in.</a:t>
            </a:r>
          </a:p>
          <a:p>
            <a:pPr lvl="1"/>
            <a:r>
              <a:rPr b="1">
                <a:solidFill/>
                <a:latin typeface="Plus Jakarta Sans"/>
              </a:rPr>
              <a:t>Coba aplikasinya:</a:t>
            </a:r>
            <a:r>
              <a:rPr>
                <a:solidFill/>
                <a:latin typeface="Plus Jakarta Sans"/>
              </a:rPr>
              <a:t> [URL DEMO]</a:t>
            </a:r>
          </a:p>
          <a:p>
            <a:pPr lvl="1"/>
            <a:r>
              <a:rPr b="1">
                <a:solidFill/>
                <a:latin typeface="Plus Jakarta Sans"/>
              </a:rPr>
              <a:t>Video demo:</a:t>
            </a:r>
            <a:r>
              <a:rPr>
                <a:solidFill/>
                <a:latin typeface="Plus Jakarta Sans"/>
              </a:rPr>
              <a:t> [LINK VIDEO YOUTUBE]</a:t>
            </a:r>
          </a:p>
          <a:p>
            <a:pPr lvl="1"/>
            <a:r>
              <a:rPr b="1">
                <a:solidFill/>
                <a:latin typeface="Plus Jakarta Sans"/>
              </a:rPr>
              <a:t>Repository:</a:t>
            </a:r>
            <a:r>
              <a:rPr>
                <a:solidFill/>
                <a:latin typeface="Plus Jakarta Sans"/>
              </a:rPr>
              <a:t> [LINK REPOSITORY]</a:t>
            </a:r>
          </a:p>
          <a:p>
            <a:pPr lvl="1"/>
            <a:r>
              <a:rPr>
                <a:solidFill/>
                <a:latin typeface="Plus Jakarta Sans"/>
              </a:rPr>
              <a:t>Alur singkat untuk juri: Daftar → Atur ruang → Check-in → Jejak → "Cari pola baru" → Ruang</a:t>
            </a:r>
          </a:p>
          <a:p>
            <a:pPr lvl="1"/>
            <a:r>
              <a:rPr>
                <a:solidFill/>
                <a:latin typeface="Plus Jakarta Sans"/>
              </a:rPr>
              <a:t>Akun demo dengan riwayat check-in siap pakai: [AKUN DEMO]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14</a:t>
            </a:r>
          </a:p>
        </p:txBody>
      </p:sp>
      <p:pic>
        <p:nvPicPr>
          <p:cNvPr id="6" name="Picture 5" descr="Welcome-1318x1080-b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850" y="891090"/>
            <a:ext cx="602614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1965960"/>
            <a:ext cx="11880850" cy="1554480"/>
          </a:xfrm>
        </p:spPr>
        <p:txBody>
          <a:bodyPr/>
          <a:lstStyle/>
          <a:p>
            <a:pPr algn="ctr"/>
            <a:r>
              <a:rPr sz="4400">
                <a:solidFill>
                  <a:srgbClr val="FAF8F4"/>
                </a:solidFill>
                <a:latin typeface="Sora"/>
              </a:rPr>
              <a:t>Kamu tidak harus selalu baik-baik saja.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2743200"/>
            <a:ext cx="11734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AF8F4"/>
                </a:solidFill>
                <a:latin typeface="Plus Jakarta Sans"/>
              </a:rPr>
              <a:t>Dan kamu tidak perlu menunggu sampai terasa terlalu berat untuk mulai memperhatikan.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AF8F4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150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FAF8F4"/>
                </a:solidFill>
                <a:latin typeface="Plus Jakarta Sans"/>
              </a:rPr>
              <a:t>Terima kasih  ·  Tim CH  ·  MindCraft Web Competition 2026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FAF8F4"/>
                </a:solidFill>
                <a:latin typeface="Plus Jakarta Sans"/>
              </a:rPr>
              <a:t>Kontak: [KONTAK TIM]</a:t>
            </a:r>
          </a:p>
        </p:txBody>
      </p:sp>
      <p:pic>
        <p:nvPicPr>
          <p:cNvPr id="6" name="Picture 5" descr="Final-CTA-cut2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040" y="425196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RuangPijar">
      <a:dk1>
        <a:srgbClr val="292525"/>
      </a:dk1>
      <a:lt1>
        <a:srgbClr val="FAF8F4"/>
      </a:lt1>
      <a:dk2>
        <a:srgbClr val="5B3A52"/>
      </a:dk2>
      <a:lt2>
        <a:srgbClr val="FFFFFF"/>
      </a:lt2>
      <a:accent1>
        <a:srgbClr val="5B3A52"/>
      </a:accent1>
      <a:accent2>
        <a:srgbClr val="E9A68D"/>
      </a:accent2>
      <a:accent3>
        <a:srgbClr val="8FA58D"/>
      </a:accent3>
      <a:accent4>
        <a:srgbClr val="EEE5EC"/>
      </a:accent4>
      <a:accent5>
        <a:srgbClr val="F8E7DF"/>
      </a:accent5>
      <a:accent6>
        <a:srgbClr val="746E6A"/>
      </a:accent6>
      <a:hlink>
        <a:srgbClr val="5B3A52"/>
      </a:hlink>
      <a:folHlink>
        <a:srgbClr val="746E6A"/>
      </a:folHlink>
    </a:clrScheme>
    <a:fontScheme name="RuangPijar">
      <a:majorFont>
        <a:latin typeface="Sora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lus Jakarta San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